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914400"/>
          </a:xfrm>
          <a:prstGeom prst="rect">
            <a:avLst/>
          </a:prstGeom>
          <a:noFill/>
        </p:spPr>
        <p:txBody>
          <a:bodyPr wrap="square">
            <a:spAutoFit/>
          </a:bodyPr>
          <a:lstStyle/>
          <a:p>
            <a:pPr>
              <a:defRPr sz="3600" b="1">
                <a:solidFill>
                  <a:srgbClr val="2163BB"/>
                </a:solidFill>
              </a:defRPr>
            </a:pPr>
            <a:r>
              <a:t>AI 기반 프로젝트 관리 최적화 방안 보고서</a:t>
            </a:r>
          </a:p>
        </p:txBody>
      </p:sp>
      <p:sp>
        <p:nvSpPr>
          <p:cNvPr id="3" name="TextBox 2"/>
          <p:cNvSpPr txBox="1"/>
          <p:nvPr/>
        </p:nvSpPr>
        <p:spPr>
          <a:xfrm>
            <a:off x="457200" y="1371600"/>
            <a:ext cx="11277295" cy="731520"/>
          </a:xfrm>
          <a:prstGeom prst="rect">
            <a:avLst/>
          </a:prstGeom>
          <a:noFill/>
        </p:spPr>
        <p:txBody>
          <a:bodyPr wrap="square">
            <a:spAutoFit/>
          </a:bodyPr>
          <a:lstStyle/>
          <a:p>
            <a:pPr>
              <a:defRPr sz="2800" b="1">
                <a:solidFill>
                  <a:srgbClr val="2163BB"/>
                </a:solidFill>
              </a:defRPr>
            </a:pPr>
            <a:r>
              <a:t>1. 보고 목적</a:t>
            </a:r>
          </a:p>
        </p:txBody>
      </p:sp>
      <p:sp>
        <p:nvSpPr>
          <p:cNvPr id="4" name="TextBox 3"/>
          <p:cNvSpPr txBox="1"/>
          <p:nvPr/>
        </p:nvSpPr>
        <p:spPr>
          <a:xfrm>
            <a:off x="457200" y="2148840"/>
            <a:ext cx="11277295" cy="457200"/>
          </a:xfrm>
          <a:prstGeom prst="rect">
            <a:avLst/>
          </a:prstGeom>
          <a:noFill/>
        </p:spPr>
        <p:txBody>
          <a:bodyPr wrap="square">
            <a:spAutoFit/>
          </a:bodyPr>
          <a:lstStyle/>
          <a:p>
            <a:pPr>
              <a:defRPr sz="1400">
                <a:solidFill>
                  <a:srgbClr val="333333"/>
                </a:solidFill>
              </a:defRPr>
            </a:pPr>
            <a:r>
              <a:t>공공기관 SI 프로젝트 수행 과정에서 반복적으로 발생하는 문서 품질 저하, 요구사항 추적성 단절, 공정률 왜곡, 산출물 취합 지연, 개발 품질 저하 문제를 개선하기 위해, Jira·Confluence·Slack·Claude 등 AI 기반 협업 도구를 활용한 프로젝트 관리 및 개발 최적화 방안을 체계를 수립하는데 목적이 있다.</a:t>
            </a:r>
          </a:p>
        </p:txBody>
      </p:sp>
      <p:sp>
        <p:nvSpPr>
          <p:cNvPr id="5" name="TextBox 4"/>
          <p:cNvSpPr txBox="1"/>
          <p:nvPr/>
        </p:nvSpPr>
        <p:spPr>
          <a:xfrm>
            <a:off x="457200" y="2606040"/>
            <a:ext cx="11277295" cy="457200"/>
          </a:xfrm>
          <a:prstGeom prst="rect">
            <a:avLst/>
          </a:prstGeom>
          <a:noFill/>
        </p:spPr>
        <p:txBody>
          <a:bodyPr wrap="square">
            <a:spAutoFit/>
          </a:bodyPr>
          <a:lstStyle/>
          <a:p>
            <a:pPr>
              <a:defRPr sz="1400">
                <a:solidFill>
                  <a:srgbClr val="333333"/>
                </a:solidFill>
              </a:defRPr>
            </a:pPr>
            <a:r>
              <a:t>특히 공공기관 프로젝트는 전체 공정의 상당 부분이 사업관리 및 개발 산출물 작성·검토·취합에 집중되어 있으며, 감리·검수 단계에서 산출물 품질과 요구사항 추적성이 주요 점검 대상이 된다. 이에 따라 AI를 단순 코딩 보조 도구로 활용하는 수준을 넘어, 프로젝트 전 공정의 역할·룰·스킬를 표준화하고 자동화하는 업무 혁신 체계를 수립하고자 한다.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2163BB"/>
                </a:solidFill>
              </a:defRPr>
            </a:pPr>
            <a:r>
              <a:t>2. 추진 배경</a:t>
            </a:r>
          </a:p>
        </p:txBody>
      </p:sp>
      <p:sp>
        <p:nvSpPr>
          <p:cNvPr id="3" name="TextBox 2"/>
          <p:cNvSpPr txBox="1"/>
          <p:nvPr/>
        </p:nvSpPr>
        <p:spPr>
          <a:xfrm>
            <a:off x="457200" y="1143000"/>
            <a:ext cx="11277295" cy="457200"/>
          </a:xfrm>
          <a:prstGeom prst="rect">
            <a:avLst/>
          </a:prstGeom>
          <a:noFill/>
        </p:spPr>
        <p:txBody>
          <a:bodyPr wrap="square">
            <a:spAutoFit/>
          </a:bodyPr>
          <a:lstStyle/>
          <a:p>
            <a:pPr>
              <a:defRPr sz="1400">
                <a:solidFill>
                  <a:srgbClr val="333333"/>
                </a:solidFill>
              </a:defRPr>
            </a:pPr>
            <a:r>
              <a:t>공공기관 프로젝트는 전통적으로 폭포수 모델 중심으로 운영되어 왔으며, 요구사항 정의, 분석, 설계, 개발, 테스트, 감리, 검수 단계가 순차적으로 진행된다. 그러나 실제 수행 과정에서는 다음과 같은 문제가 반복적으로 발생한다.</a:t>
            </a:r>
          </a:p>
        </p:txBody>
      </p:sp>
      <p:sp>
        <p:nvSpPr>
          <p:cNvPr id="4" name="TextBox 3"/>
          <p:cNvSpPr txBox="1"/>
          <p:nvPr/>
        </p:nvSpPr>
        <p:spPr>
          <a:xfrm>
            <a:off x="457200" y="1600200"/>
            <a:ext cx="11277295" cy="457200"/>
          </a:xfrm>
          <a:prstGeom prst="rect">
            <a:avLst/>
          </a:prstGeom>
          <a:noFill/>
        </p:spPr>
        <p:txBody>
          <a:bodyPr wrap="square">
            <a:spAutoFit/>
          </a:bodyPr>
          <a:lstStyle/>
          <a:p>
            <a:pPr>
              <a:defRPr sz="1400">
                <a:solidFill>
                  <a:srgbClr val="333333"/>
                </a:solidFill>
              </a:defRPr>
            </a:pPr>
            <a:r>
              <a:t>첫째, 산출물 작성과 취합이 수작업 중심으로 이루어져 문서 품질 확보에 많은 시간이 소요된다.</a:t>
            </a:r>
          </a:p>
        </p:txBody>
      </p:sp>
      <p:sp>
        <p:nvSpPr>
          <p:cNvPr id="5" name="TextBox 4"/>
          <p:cNvSpPr txBox="1"/>
          <p:nvPr/>
        </p:nvSpPr>
        <p:spPr>
          <a:xfrm>
            <a:off x="457200" y="2057400"/>
            <a:ext cx="11277295" cy="457200"/>
          </a:xfrm>
          <a:prstGeom prst="rect">
            <a:avLst/>
          </a:prstGeom>
          <a:noFill/>
        </p:spPr>
        <p:txBody>
          <a:bodyPr wrap="square">
            <a:spAutoFit/>
          </a:bodyPr>
          <a:lstStyle/>
          <a:p>
            <a:pPr>
              <a:defRPr sz="1400">
                <a:solidFill>
                  <a:srgbClr val="333333"/>
                </a:solidFill>
              </a:defRPr>
            </a:pPr>
            <a:r>
              <a:t>둘째, 요구사항 추적관리가 최초 작성 시점에는 이루어지지만, 개발과 테스트가 진행되면서 지속적으로 유지되지 않는다.</a:t>
            </a:r>
          </a:p>
        </p:txBody>
      </p:sp>
      <p:sp>
        <p:nvSpPr>
          <p:cNvPr id="6" name="TextBox 5"/>
          <p:cNvSpPr txBox="1"/>
          <p:nvPr/>
        </p:nvSpPr>
        <p:spPr>
          <a:xfrm>
            <a:off x="457200" y="2514600"/>
            <a:ext cx="11277295" cy="457200"/>
          </a:xfrm>
          <a:prstGeom prst="rect">
            <a:avLst/>
          </a:prstGeom>
          <a:noFill/>
        </p:spPr>
        <p:txBody>
          <a:bodyPr wrap="square">
            <a:spAutoFit/>
          </a:bodyPr>
          <a:lstStyle/>
          <a:p>
            <a:pPr>
              <a:defRPr sz="1400">
                <a:solidFill>
                  <a:srgbClr val="333333"/>
                </a:solidFill>
              </a:defRPr>
            </a:pPr>
            <a:r>
              <a:t>셋째, 주간보고와 월간보고 작성 시 WBS, 이슈, 산출물, 결함, 개발 진행률을 별도 담당자가 수작업으로 취합하고 있다.</a:t>
            </a:r>
          </a:p>
        </p:txBody>
      </p:sp>
      <p:sp>
        <p:nvSpPr>
          <p:cNvPr id="7" name="TextBox 6"/>
          <p:cNvSpPr txBox="1"/>
          <p:nvPr/>
        </p:nvSpPr>
        <p:spPr>
          <a:xfrm>
            <a:off x="457200" y="2971800"/>
            <a:ext cx="11277295" cy="457200"/>
          </a:xfrm>
          <a:prstGeom prst="rect">
            <a:avLst/>
          </a:prstGeom>
          <a:noFill/>
        </p:spPr>
        <p:txBody>
          <a:bodyPr wrap="square">
            <a:spAutoFit/>
          </a:bodyPr>
          <a:lstStyle/>
          <a:p>
            <a:pPr>
              <a:defRPr sz="1400">
                <a:solidFill>
                  <a:srgbClr val="333333"/>
                </a:solidFill>
              </a:defRPr>
            </a:pPr>
            <a:r>
              <a:t>넷째, 요구사항이 불명확하거나 테스트 기준이 부족한 상태에서 개발이 진행되면 오픈 시점에 다수의 오류가 발생하고, 이후 긴급 수정과 재작업 비용이 증가한다.</a:t>
            </a:r>
          </a:p>
        </p:txBody>
      </p:sp>
      <p:sp>
        <p:nvSpPr>
          <p:cNvPr id="8" name="TextBox 7"/>
          <p:cNvSpPr txBox="1"/>
          <p:nvPr/>
        </p:nvSpPr>
        <p:spPr>
          <a:xfrm>
            <a:off x="457200" y="3429000"/>
            <a:ext cx="11277295" cy="457200"/>
          </a:xfrm>
          <a:prstGeom prst="rect">
            <a:avLst/>
          </a:prstGeom>
          <a:noFill/>
        </p:spPr>
        <p:txBody>
          <a:bodyPr wrap="square">
            <a:spAutoFit/>
          </a:bodyPr>
          <a:lstStyle/>
          <a:p>
            <a:pPr>
              <a:defRPr sz="1400">
                <a:solidFill>
                  <a:srgbClr val="333333"/>
                </a:solidFill>
              </a:defRPr>
            </a:pPr>
            <a:r>
              <a:t>다섯째, 공공기관 특성상 폭포수 방식이 강하게 적용되어 개발 완료 후 품질 문제가 집중적으로 드러나는 구조가 발생한다.</a:t>
            </a:r>
          </a:p>
        </p:txBody>
      </p:sp>
      <p:sp>
        <p:nvSpPr>
          <p:cNvPr id="9" name="TextBox 8"/>
          <p:cNvSpPr txBox="1"/>
          <p:nvPr/>
        </p:nvSpPr>
        <p:spPr>
          <a:xfrm>
            <a:off x="457200" y="3886200"/>
            <a:ext cx="11277295" cy="457200"/>
          </a:xfrm>
          <a:prstGeom prst="rect">
            <a:avLst/>
          </a:prstGeom>
          <a:noFill/>
        </p:spPr>
        <p:txBody>
          <a:bodyPr wrap="square">
            <a:spAutoFit/>
          </a:bodyPr>
          <a:lstStyle/>
          <a:p>
            <a:pPr>
              <a:defRPr sz="1400">
                <a:solidFill>
                  <a:srgbClr val="333333"/>
                </a:solidFill>
              </a:defRPr>
            </a:pPr>
            <a:r>
              <a:t>본 프로젝트 관리 최적화의 핵심 방향은 다음과 같다.</a:t>
            </a:r>
          </a:p>
        </p:txBody>
      </p:sp>
      <p:sp>
        <p:nvSpPr>
          <p:cNvPr id="10" name="TextBox 9"/>
          <p:cNvSpPr txBox="1"/>
          <p:nvPr/>
        </p:nvSpPr>
        <p:spPr>
          <a:xfrm>
            <a:off x="457200" y="4343400"/>
            <a:ext cx="11277295" cy="457200"/>
          </a:xfrm>
          <a:prstGeom prst="rect">
            <a:avLst/>
          </a:prstGeom>
          <a:noFill/>
        </p:spPr>
        <p:txBody>
          <a:bodyPr wrap="square">
            <a:spAutoFit/>
          </a:bodyPr>
          <a:lstStyle/>
          <a:p>
            <a:pPr>
              <a:defRPr sz="1400">
                <a:solidFill>
                  <a:srgbClr val="333333"/>
                </a:solidFill>
              </a:defRPr>
            </a:pPr>
            <a:r>
              <a:t>문서관리 자동화 → 요구사항 추적관리 자동화 → 공정관리 자동화 → SDD + TDD 기반 요구사항작성 → AI 기반 역할·룰·스킬 정착 → 전자정부표준프레임워크 최적화 → 배포 →  통합테스트 → 산출물작성</a:t>
            </a:r>
          </a:p>
        </p:txBody>
      </p:sp>
      <p:sp>
        <p:nvSpPr>
          <p:cNvPr id="11" name="TextBox 10"/>
          <p:cNvSpPr txBox="1"/>
          <p:nvPr/>
        </p:nvSpPr>
        <p:spPr>
          <a:xfrm>
            <a:off x="457200" y="4800600"/>
            <a:ext cx="11277295" cy="457200"/>
          </a:xfrm>
          <a:prstGeom prst="rect">
            <a:avLst/>
          </a:prstGeom>
          <a:noFill/>
        </p:spPr>
        <p:txBody>
          <a:bodyPr wrap="square">
            <a:spAutoFit/>
          </a:bodyPr>
          <a:lstStyle/>
          <a:p>
            <a:pPr>
              <a:defRPr sz="1400">
                <a:solidFill>
                  <a:srgbClr val="333333"/>
                </a:solidFill>
              </a:defRPr>
            </a:pPr>
            <a:r>
              <a:t>이를 위해 Jira, Confluence, Slack, Claude를 기본 협업 도구로 활용하고, 필요 시 Hermes Agent, Spec Kit, Claude Code, 기타 AI CLI 도구를 도입하여 프로젝트 관리와 개발 수행 전반에 AI 자동화 체계를 적용한다.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2163BB"/>
                </a:solidFill>
              </a:defRPr>
            </a:pPr>
            <a:r>
              <a:t>4. 주요 개선 목표</a:t>
            </a:r>
          </a:p>
        </p:txBody>
      </p:sp>
      <p:sp>
        <p:nvSpPr>
          <p:cNvPr id="3" name="TextBox 2"/>
          <p:cNvSpPr txBox="1"/>
          <p:nvPr/>
        </p:nvSpPr>
        <p:spPr>
          <a:xfrm>
            <a:off x="457200" y="1143000"/>
            <a:ext cx="11277295" cy="548640"/>
          </a:xfrm>
          <a:prstGeom prst="rect">
            <a:avLst/>
          </a:prstGeom>
          <a:noFill/>
        </p:spPr>
        <p:txBody>
          <a:bodyPr wrap="none">
            <a:spAutoFit/>
          </a:bodyPr>
          <a:lstStyle/>
          <a:p>
            <a:pPr>
              <a:defRPr sz="1800" b="1">
                <a:solidFill>
                  <a:srgbClr val="2163BB"/>
                </a:solidFill>
              </a:defRPr>
            </a:pPr>
            <a:r>
              <a:t>4.1 문서 품질 확보</a:t>
            </a:r>
          </a:p>
        </p:txBody>
      </p:sp>
      <p:sp>
        <p:nvSpPr>
          <p:cNvPr id="4" name="TextBox 3"/>
          <p:cNvSpPr txBox="1"/>
          <p:nvPr/>
        </p:nvSpPr>
        <p:spPr>
          <a:xfrm>
            <a:off x="457200" y="1737360"/>
            <a:ext cx="11277295" cy="457200"/>
          </a:xfrm>
          <a:prstGeom prst="rect">
            <a:avLst/>
          </a:prstGeom>
          <a:noFill/>
        </p:spPr>
        <p:txBody>
          <a:bodyPr wrap="square">
            <a:spAutoFit/>
          </a:bodyPr>
          <a:lstStyle/>
          <a:p>
            <a:pPr>
              <a:defRPr sz="1400">
                <a:solidFill>
                  <a:srgbClr val="333333"/>
                </a:solidFill>
              </a:defRPr>
            </a:pPr>
            <a:r>
              <a:t>정부기관 프로젝트는 사업관리 및 개발 산출물 관리 비중이 높으며, 산출물 품질은 감리·검수 대응의 핵심 요소이다.</a:t>
            </a:r>
          </a:p>
        </p:txBody>
      </p:sp>
      <p:graphicFrame>
        <p:nvGraphicFramePr>
          <p:cNvPr id="5" name="Table 4"/>
          <p:cNvGraphicFramePr>
            <a:graphicFrameLocks noGrp="1"/>
          </p:cNvGraphicFramePr>
          <p:nvPr/>
        </p:nvGraphicFramePr>
        <p:xfrm>
          <a:off x="457200" y="2194560"/>
          <a:ext cx="11277294" cy="2743200"/>
        </p:xfrm>
        <a:graphic>
          <a:graphicData uri="http://schemas.openxmlformats.org/drawingml/2006/table">
            <a:tbl>
              <a:tblPr firstRow="1" bandRow="1">
                <a:tableStyleId>{5C22544A-7EE6-4342-B048-85BDC9FD1C3A}</a:tableStyleId>
              </a:tblPr>
              <a:tblGrid>
                <a:gridCol w="3759098"/>
                <a:gridCol w="3759098"/>
                <a:gridCol w="3759098"/>
              </a:tblGrid>
              <a:tr h="2743200">
                <a:tc>
                  <a:txBody>
                    <a:bodyPr wrap="square"/>
                    <a:lstStyle/>
                    <a:p>
                      <a:pPr algn="ctr"/>
                      <a:r>
                        <a:rPr sz="1100" b="1">
                          <a:solidFill>
                            <a:srgbClr val="FFFFFF"/>
                          </a:solidFill>
                        </a:rPr>
                        <a:t>구분</a:t>
                      </a:r>
                    </a:p>
                  </a:txBody>
                  <a:tcPr>
                    <a:solidFill>
                      <a:srgbClr val="2163BB"/>
                    </a:solidFill>
                  </a:tcPr>
                </a:tc>
                <a:tc>
                  <a:txBody>
                    <a:bodyPr wrap="square"/>
                    <a:lstStyle/>
                    <a:p>
                      <a:pPr algn="ctr"/>
                      <a:r>
                        <a:rPr sz="1100" b="1">
                          <a:solidFill>
                            <a:srgbClr val="FFFFFF"/>
                          </a:solidFill>
                        </a:rPr>
                        <a:t>기존 방식</a:t>
                      </a:r>
                    </a:p>
                  </a:txBody>
                  <a:tcPr>
                    <a:solidFill>
                      <a:srgbClr val="2163BB"/>
                    </a:solidFill>
                  </a:tcPr>
                </a:tc>
                <a:tc>
                  <a:txBody>
                    <a:bodyPr wrap="square"/>
                    <a:lstStyle/>
                    <a:p>
                      <a:pPr algn="ctr"/>
                      <a:r>
                        <a:rPr sz="1100" b="1">
                          <a:solidFill>
                            <a:srgbClr val="FFFFFF"/>
                          </a:solidFill>
                        </a:rPr>
                        <a:t>개선 방식</a:t>
                      </a:r>
                    </a:p>
                  </a:txBody>
                  <a:tcPr>
                    <a:solidFill>
                      <a:srgbClr val="2163BB"/>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graphicFrame>
        <p:nvGraphicFramePr>
          <p:cNvPr id="3" name="Table 2"/>
          <p:cNvGraphicFramePr>
            <a:graphicFrameLocks noGrp="1"/>
          </p:cNvGraphicFramePr>
          <p:nvPr/>
        </p:nvGraphicFramePr>
        <p:xfrm>
          <a:off x="457200" y="822960"/>
          <a:ext cx="11277294" cy="2743200"/>
        </p:xfrm>
        <a:graphic>
          <a:graphicData uri="http://schemas.openxmlformats.org/drawingml/2006/table">
            <a:tbl>
              <a:tblPr firstRow="1" bandRow="1">
                <a:tableStyleId>{5C22544A-7EE6-4342-B048-85BDC9FD1C3A}</a:tableStyleId>
              </a:tblPr>
              <a:tblGrid>
                <a:gridCol w="3759098"/>
                <a:gridCol w="3759098"/>
                <a:gridCol w="3759098"/>
              </a:tblGrid>
              <a:tr h="548640">
                <a:tc>
                  <a:txBody>
                    <a:bodyPr wrap="square"/>
                    <a:lstStyle/>
                    <a:p>
                      <a:pPr algn="ctr"/>
                      <a:r>
                        <a:rPr sz="1100" b="1">
                          <a:solidFill>
                            <a:srgbClr val="FFFFFF"/>
                          </a:solidFill>
                        </a:rPr>
                        <a:t>문서 작성</a:t>
                      </a:r>
                    </a:p>
                  </a:txBody>
                  <a:tcPr>
                    <a:solidFill>
                      <a:srgbClr val="2163BB"/>
                    </a:solidFill>
                  </a:tcPr>
                </a:tc>
                <a:tc>
                  <a:txBody>
                    <a:bodyPr wrap="square"/>
                    <a:lstStyle/>
                    <a:p>
                      <a:pPr algn="ctr"/>
                      <a:r>
                        <a:rPr sz="1100" b="1">
                          <a:solidFill>
                            <a:srgbClr val="FFFFFF"/>
                          </a:solidFill>
                        </a:rPr>
                        <a:t>담당자별 개별 작성</a:t>
                      </a:r>
                    </a:p>
                  </a:txBody>
                  <a:tcPr>
                    <a:solidFill>
                      <a:srgbClr val="2163BB"/>
                    </a:solidFill>
                  </a:tcPr>
                </a:tc>
                <a:tc>
                  <a:txBody>
                    <a:bodyPr wrap="square"/>
                    <a:lstStyle/>
                    <a:p>
                      <a:pPr algn="ctr"/>
                      <a:r>
                        <a:rPr sz="1100" b="1">
                          <a:solidFill>
                            <a:srgbClr val="FFFFFF"/>
                          </a:solidFill>
                        </a:rPr>
                        <a:t>Confluence 표준 템플릿 기반 작성</a:t>
                      </a:r>
                    </a:p>
                  </a:txBody>
                  <a:tcPr>
                    <a:solidFill>
                      <a:srgbClr val="2163BB"/>
                    </a:solidFill>
                  </a:tcPr>
                </a:tc>
              </a:tr>
              <a:tr h="548640">
                <a:tc>
                  <a:txBody>
                    <a:bodyPr wrap="square"/>
                    <a:lstStyle/>
                    <a:p>
                      <a:pPr algn="ctr"/>
                      <a:r>
                        <a:rPr sz="1100"/>
                        <a:t>문서 취합</a:t>
                      </a:r>
                    </a:p>
                  </a:txBody>
                  <a:tcPr>
                    <a:solidFill>
                      <a:srgbClr val="F0F5FA"/>
                    </a:solidFill>
                  </a:tcPr>
                </a:tc>
                <a:tc>
                  <a:txBody>
                    <a:bodyPr wrap="square"/>
                    <a:lstStyle/>
                    <a:p>
                      <a:pPr algn="ctr"/>
                      <a:r>
                        <a:rPr sz="1100"/>
                        <a:t>PM/문서 담당자 수작업 취합</a:t>
                      </a:r>
                    </a:p>
                  </a:txBody>
                  <a:tcPr>
                    <a:solidFill>
                      <a:srgbClr val="F0F5FA"/>
                    </a:solidFill>
                  </a:tcPr>
                </a:tc>
                <a:tc>
                  <a:txBody>
                    <a:bodyPr wrap="square"/>
                    <a:lstStyle/>
                    <a:p>
                      <a:pPr algn="ctr"/>
                      <a:r>
                        <a:rPr sz="1100"/>
                        <a:t>Jira/Confluence 기반 자동 취합</a:t>
                      </a:r>
                    </a:p>
                  </a:txBody>
                  <a:tcPr>
                    <a:solidFill>
                      <a:srgbClr val="F0F5FA"/>
                    </a:solidFill>
                  </a:tcPr>
                </a:tc>
              </a:tr>
              <a:tr h="548640">
                <a:tc>
                  <a:txBody>
                    <a:bodyPr wrap="square"/>
                    <a:lstStyle/>
                    <a:p>
                      <a:pPr algn="ctr"/>
                      <a:r>
                        <a:rPr sz="1100"/>
                        <a:t>문서 검토</a:t>
                      </a:r>
                    </a:p>
                  </a:txBody>
                  <a:tcPr>
                    <a:solidFill>
                      <a:srgbClr val="F0F5FA"/>
                    </a:solidFill>
                  </a:tcPr>
                </a:tc>
                <a:tc>
                  <a:txBody>
                    <a:bodyPr wrap="square"/>
                    <a:lstStyle/>
                    <a:p>
                      <a:pPr algn="ctr"/>
                      <a:r>
                        <a:rPr sz="1100"/>
                        <a:t>개별 검토 의견 관리</a:t>
                      </a:r>
                    </a:p>
                  </a:txBody>
                  <a:tcPr>
                    <a:solidFill>
                      <a:srgbClr val="F0F5FA"/>
                    </a:solidFill>
                  </a:tcPr>
                </a:tc>
                <a:tc>
                  <a:txBody>
                    <a:bodyPr wrap="square"/>
                    <a:lstStyle/>
                    <a:p>
                      <a:pPr algn="ctr"/>
                      <a:r>
                        <a:rPr sz="1100"/>
                        <a:t>Claude 기반 누락/불일치 검토</a:t>
                      </a:r>
                    </a:p>
                  </a:txBody>
                  <a:tcPr>
                    <a:solidFill>
                      <a:srgbClr val="F0F5FA"/>
                    </a:solidFill>
                  </a:tcPr>
                </a:tc>
              </a:tr>
              <a:tr h="548640">
                <a:tc>
                  <a:txBody>
                    <a:bodyPr wrap="square"/>
                    <a:lstStyle/>
                    <a:p>
                      <a:pPr algn="ctr"/>
                      <a:r>
                        <a:rPr sz="1100"/>
                        <a:t>버전 관리</a:t>
                      </a:r>
                    </a:p>
                  </a:txBody>
                  <a:tcPr>
                    <a:solidFill>
                      <a:srgbClr val="F0F5FA"/>
                    </a:solidFill>
                  </a:tcPr>
                </a:tc>
                <a:tc>
                  <a:txBody>
                    <a:bodyPr wrap="square"/>
                    <a:lstStyle/>
                    <a:p>
                      <a:pPr algn="ctr"/>
                      <a:r>
                        <a:rPr sz="1100"/>
                        <a:t>파일명 중심 관리</a:t>
                      </a:r>
                    </a:p>
                  </a:txBody>
                  <a:tcPr>
                    <a:solidFill>
                      <a:srgbClr val="F0F5FA"/>
                    </a:solidFill>
                  </a:tcPr>
                </a:tc>
                <a:tc>
                  <a:txBody>
                    <a:bodyPr wrap="square"/>
                    <a:lstStyle/>
                    <a:p>
                      <a:pPr algn="ctr"/>
                      <a:r>
                        <a:rPr sz="1100"/>
                        <a:t>Confluence Page + Attachment + 기준선 관리</a:t>
                      </a:r>
                    </a:p>
                  </a:txBody>
                  <a:tcPr>
                    <a:solidFill>
                      <a:srgbClr val="F0F5FA"/>
                    </a:solidFill>
                  </a:tcPr>
                </a:tc>
              </a:tr>
              <a:tr h="548640">
                <a:tc>
                  <a:txBody>
                    <a:bodyPr wrap="square"/>
                    <a:lstStyle/>
                    <a:p>
                      <a:pPr algn="ctr"/>
                      <a:r>
                        <a:rPr sz="1100"/>
                        <a:t>보고 자료</a:t>
                      </a:r>
                    </a:p>
                  </a:txBody>
                  <a:tcPr>
                    <a:solidFill>
                      <a:srgbClr val="F0F5FA"/>
                    </a:solidFill>
                  </a:tcPr>
                </a:tc>
                <a:tc>
                  <a:txBody>
                    <a:bodyPr wrap="square"/>
                    <a:lstStyle/>
                    <a:p>
                      <a:pPr algn="ctr"/>
                      <a:r>
                        <a:rPr sz="1100"/>
                        <a:t>수작업 복사/정리</a:t>
                      </a:r>
                    </a:p>
                  </a:txBody>
                  <a:tcPr>
                    <a:solidFill>
                      <a:srgbClr val="F0F5FA"/>
                    </a:solidFill>
                  </a:tcPr>
                </a:tc>
                <a:tc>
                  <a:txBody>
                    <a:bodyPr wrap="square"/>
                    <a:lstStyle/>
                    <a:p>
                      <a:pPr algn="ctr"/>
                      <a:r>
                        <a:rPr sz="1100"/>
                        <a:t>자동 보고서 초안 생성</a:t>
                      </a:r>
                    </a:p>
                  </a:txBody>
                  <a:tcPr>
                    <a:solidFill>
                      <a:srgbClr val="F0F5FA"/>
                    </a:solidFill>
                  </a:tcPr>
                </a:tc>
              </a:tr>
            </a:tbl>
          </a:graphicData>
        </a:graphic>
      </p:graphicFrame>
      <p:sp>
        <p:nvSpPr>
          <p:cNvPr id="4" name="TextBox 3"/>
          <p:cNvSpPr txBox="1"/>
          <p:nvPr/>
        </p:nvSpPr>
        <p:spPr>
          <a:xfrm>
            <a:off x="457200" y="3840480"/>
            <a:ext cx="11277295" cy="457200"/>
          </a:xfrm>
          <a:prstGeom prst="rect">
            <a:avLst/>
          </a:prstGeom>
          <a:noFill/>
        </p:spPr>
        <p:txBody>
          <a:bodyPr wrap="square">
            <a:spAutoFit/>
          </a:bodyPr>
          <a:lstStyle/>
          <a:p>
            <a:pPr>
              <a:defRPr sz="1400">
                <a:solidFill>
                  <a:srgbClr val="333333"/>
                </a:solidFill>
              </a:defRPr>
            </a:pPr>
            <a:r>
              <a:t>기대 효과는 산출물 취합 및 검토 시간을 단축하고, 감리·검수 단계에서 문서 품질 관련 리스크를 사전에 줄이는 것이다.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548640"/>
          </a:xfrm>
          <a:prstGeom prst="rect">
            <a:avLst/>
          </a:prstGeom>
          <a:noFill/>
        </p:spPr>
        <p:txBody>
          <a:bodyPr wrap="none">
            <a:spAutoFit/>
          </a:bodyPr>
          <a:lstStyle/>
          <a:p>
            <a:pPr>
              <a:defRPr sz="1800" b="1">
                <a:solidFill>
                  <a:srgbClr val="2163BB"/>
                </a:solidFill>
              </a:defRPr>
            </a:pPr>
            <a:r>
              <a:t>4.2 요구사항 추적관리 강화</a:t>
            </a:r>
          </a:p>
        </p:txBody>
      </p:sp>
      <p:sp>
        <p:nvSpPr>
          <p:cNvPr id="3" name="TextBox 2"/>
          <p:cNvSpPr txBox="1"/>
          <p:nvPr/>
        </p:nvSpPr>
        <p:spPr>
          <a:xfrm>
            <a:off x="457200" y="960120"/>
            <a:ext cx="11277295" cy="457200"/>
          </a:xfrm>
          <a:prstGeom prst="rect">
            <a:avLst/>
          </a:prstGeom>
          <a:noFill/>
        </p:spPr>
        <p:txBody>
          <a:bodyPr wrap="square">
            <a:spAutoFit/>
          </a:bodyPr>
          <a:lstStyle/>
          <a:p>
            <a:pPr>
              <a:defRPr sz="1400">
                <a:solidFill>
                  <a:srgbClr val="333333"/>
                </a:solidFill>
              </a:defRPr>
            </a:pPr>
            <a:r>
              <a:t>공공기관 프로젝트에서는 요구사항 ID를 기준으로 유스케이스, 화면, API, 프로그램, 테이블, 테스트케이스까지 추적해야 한다. 단계별 산출물 간 ID 연결이 유지되지 않아 감리 시 많은 시간을 소요한다.</a:t>
            </a:r>
          </a:p>
        </p:txBody>
      </p:sp>
      <p:sp>
        <p:nvSpPr>
          <p:cNvPr id="4" name="TextBox 3"/>
          <p:cNvSpPr txBox="1"/>
          <p:nvPr/>
        </p:nvSpPr>
        <p:spPr>
          <a:xfrm>
            <a:off x="457200" y="1417320"/>
            <a:ext cx="11277295" cy="457200"/>
          </a:xfrm>
          <a:prstGeom prst="rect">
            <a:avLst/>
          </a:prstGeom>
          <a:noFill/>
        </p:spPr>
        <p:txBody>
          <a:bodyPr wrap="square">
            <a:spAutoFit/>
          </a:bodyPr>
          <a:lstStyle/>
          <a:p>
            <a:pPr>
              <a:defRPr sz="1400">
                <a:solidFill>
                  <a:srgbClr val="333333"/>
                </a:solidFill>
              </a:defRPr>
            </a:pPr>
            <a:r>
              <a:t>개선 방향은 다음과 같다.</a:t>
            </a:r>
          </a:p>
        </p:txBody>
      </p:sp>
      <p:sp>
        <p:nvSpPr>
          <p:cNvPr id="5" name="TextBox 4"/>
          <p:cNvSpPr txBox="1"/>
          <p:nvPr/>
        </p:nvSpPr>
        <p:spPr>
          <a:xfrm>
            <a:off x="457200" y="1874519"/>
            <a:ext cx="11277295" cy="457200"/>
          </a:xfrm>
          <a:prstGeom prst="rect">
            <a:avLst/>
          </a:prstGeom>
          <a:noFill/>
        </p:spPr>
        <p:txBody>
          <a:bodyPr wrap="square">
            <a:spAutoFit/>
          </a:bodyPr>
          <a:lstStyle/>
          <a:p>
            <a:pPr>
              <a:defRPr sz="1400">
                <a:solidFill>
                  <a:srgbClr val="333333"/>
                </a:solidFill>
              </a:defRPr>
            </a:pPr>
            <a:r>
              <a:t>요구사항추적표를 기준으로 jira 필드에 다음사항을 추가하여 집중관리한다.</a:t>
            </a:r>
          </a:p>
        </p:txBody>
      </p:sp>
      <p:sp>
        <p:nvSpPr>
          <p:cNvPr id="6" name="TextBox 5"/>
          <p:cNvSpPr txBox="1"/>
          <p:nvPr/>
        </p:nvSpPr>
        <p:spPr>
          <a:xfrm>
            <a:off x="457200" y="2331720"/>
            <a:ext cx="11277295" cy="457200"/>
          </a:xfrm>
          <a:prstGeom prst="rect">
            <a:avLst/>
          </a:prstGeom>
          <a:noFill/>
        </p:spPr>
        <p:txBody>
          <a:bodyPr wrap="square">
            <a:spAutoFit/>
          </a:bodyPr>
          <a:lstStyle/>
          <a:p>
            <a:pPr>
              <a:defRPr sz="1400">
                <a:solidFill>
                  <a:srgbClr val="333333"/>
                </a:solidFill>
              </a:defRPr>
            </a:pPr>
            <a:r>
              <a:t>요구사항 ID → 유스케이스 ID → 화면 ID → API ID → 프로그램 ID → 테이블 ID → 테스트케이스 ID → 결함 ID → 검수 승인 ID</a:t>
            </a:r>
          </a:p>
        </p:txBody>
      </p:sp>
      <p:sp>
        <p:nvSpPr>
          <p:cNvPr id="7" name="TextBox 6"/>
          <p:cNvSpPr txBox="1"/>
          <p:nvPr/>
        </p:nvSpPr>
        <p:spPr>
          <a:xfrm>
            <a:off x="457200" y="2788920"/>
            <a:ext cx="11277295" cy="457200"/>
          </a:xfrm>
          <a:prstGeom prst="rect">
            <a:avLst/>
          </a:prstGeom>
          <a:noFill/>
        </p:spPr>
        <p:txBody>
          <a:bodyPr wrap="square">
            <a:spAutoFit/>
          </a:bodyPr>
          <a:lstStyle/>
          <a:p>
            <a:pPr>
              <a:defRPr sz="1400">
                <a:solidFill>
                  <a:srgbClr val="333333"/>
                </a:solidFill>
              </a:defRPr>
            </a:pPr>
            <a:r>
              <a:t>AI를 활용하여 기존 문서의 요구사항 ID 연결 상태를 자동 점검하고, 누락되거나 불일치한 항목을 식별하여 Jira와 Confluence 문서에 자동 업데이트한다.</a:t>
            </a:r>
          </a:p>
        </p:txBody>
      </p:sp>
      <p:graphicFrame>
        <p:nvGraphicFramePr>
          <p:cNvPr id="8" name="Table 7"/>
          <p:cNvGraphicFramePr>
            <a:graphicFrameLocks noGrp="1"/>
          </p:cNvGraphicFramePr>
          <p:nvPr/>
        </p:nvGraphicFramePr>
        <p:xfrm>
          <a:off x="457200" y="3246120"/>
          <a:ext cx="11277294" cy="2697480"/>
        </p:xfrm>
        <a:graphic>
          <a:graphicData uri="http://schemas.openxmlformats.org/drawingml/2006/table">
            <a:tbl>
              <a:tblPr firstRow="1" bandRow="1">
                <a:tableStyleId>{5C22544A-7EE6-4342-B048-85BDC9FD1C3A}</a:tableStyleId>
              </a:tblPr>
              <a:tblGrid>
                <a:gridCol w="5638647"/>
                <a:gridCol w="5638647"/>
              </a:tblGrid>
              <a:tr h="2697480">
                <a:tc>
                  <a:txBody>
                    <a:bodyPr wrap="square"/>
                    <a:lstStyle/>
                    <a:p>
                      <a:pPr algn="ctr"/>
                      <a:r>
                        <a:rPr sz="1100" b="1">
                          <a:solidFill>
                            <a:srgbClr val="FFFFFF"/>
                          </a:solidFill>
                        </a:rPr>
                        <a:t>관리 항목</a:t>
                      </a:r>
                    </a:p>
                  </a:txBody>
                  <a:tcPr>
                    <a:solidFill>
                      <a:srgbClr val="2163BB"/>
                    </a:solidFill>
                  </a:tcPr>
                </a:tc>
                <a:tc>
                  <a:txBody>
                    <a:bodyPr wrap="square"/>
                    <a:lstStyle/>
                    <a:p>
                      <a:pPr algn="ctr"/>
                      <a:r>
                        <a:rPr sz="1100" b="1">
                          <a:solidFill>
                            <a:srgbClr val="FFFFFF"/>
                          </a:solidFill>
                        </a:rPr>
                        <a:t>개선 내용</a:t>
                      </a:r>
                    </a:p>
                  </a:txBody>
                  <a:tcPr>
                    <a:solidFill>
                      <a:srgbClr val="2163BB"/>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graphicFrame>
        <p:nvGraphicFramePr>
          <p:cNvPr id="3" name="Table 2"/>
          <p:cNvGraphicFramePr>
            <a:graphicFrameLocks noGrp="1"/>
          </p:cNvGraphicFramePr>
          <p:nvPr/>
        </p:nvGraphicFramePr>
        <p:xfrm>
          <a:off x="457200" y="822960"/>
          <a:ext cx="11277294" cy="2743200"/>
        </p:xfrm>
        <a:graphic>
          <a:graphicData uri="http://schemas.openxmlformats.org/drawingml/2006/table">
            <a:tbl>
              <a:tblPr firstRow="1" bandRow="1">
                <a:tableStyleId>{5C22544A-7EE6-4342-B048-85BDC9FD1C3A}</a:tableStyleId>
              </a:tblPr>
              <a:tblGrid>
                <a:gridCol w="5638647"/>
                <a:gridCol w="5638647"/>
              </a:tblGrid>
              <a:tr h="548640">
                <a:tc>
                  <a:txBody>
                    <a:bodyPr wrap="square"/>
                    <a:lstStyle/>
                    <a:p>
                      <a:pPr algn="ctr"/>
                      <a:r>
                        <a:rPr sz="1100" b="1">
                          <a:solidFill>
                            <a:srgbClr val="FFFFFF"/>
                          </a:solidFill>
                        </a:rPr>
                        <a:t>요구사항 누락</a:t>
                      </a:r>
                    </a:p>
                  </a:txBody>
                  <a:tcPr>
                    <a:solidFill>
                      <a:srgbClr val="2163BB"/>
                    </a:solidFill>
                  </a:tcPr>
                </a:tc>
                <a:tc>
                  <a:txBody>
                    <a:bodyPr wrap="square"/>
                    <a:lstStyle/>
                    <a:p>
                      <a:pPr algn="ctr"/>
                      <a:r>
                        <a:rPr sz="1100" b="1">
                          <a:solidFill>
                            <a:srgbClr val="FFFFFF"/>
                          </a:solidFill>
                        </a:rPr>
                        <a:t>Claude가 요구사항정의서와 유스케이스정의서 비교</a:t>
                      </a:r>
                    </a:p>
                  </a:txBody>
                  <a:tcPr>
                    <a:solidFill>
                      <a:srgbClr val="2163BB"/>
                    </a:solidFill>
                  </a:tcPr>
                </a:tc>
              </a:tr>
              <a:tr h="548640">
                <a:tc>
                  <a:txBody>
                    <a:bodyPr wrap="square"/>
                    <a:lstStyle/>
                    <a:p>
                      <a:pPr algn="ctr"/>
                      <a:r>
                        <a:rPr sz="1100"/>
                        <a:t>ID 불일치</a:t>
                      </a:r>
                    </a:p>
                  </a:txBody>
                  <a:tcPr>
                    <a:solidFill>
                      <a:srgbClr val="F0F5FA"/>
                    </a:solidFill>
                  </a:tcPr>
                </a:tc>
                <a:tc>
                  <a:txBody>
                    <a:bodyPr wrap="square"/>
                    <a:lstStyle/>
                    <a:p>
                      <a:pPr algn="ctr"/>
                      <a:r>
                        <a:rPr sz="1100"/>
                        <a:t>문서 간 요구사항 ID, 테스트케이스 ID 연결 점검</a:t>
                      </a:r>
                    </a:p>
                  </a:txBody>
                  <a:tcPr>
                    <a:solidFill>
                      <a:srgbClr val="F0F5FA"/>
                    </a:solidFill>
                  </a:tcPr>
                </a:tc>
              </a:tr>
              <a:tr h="548640">
                <a:tc>
                  <a:txBody>
                    <a:bodyPr wrap="square"/>
                    <a:lstStyle/>
                    <a:p>
                      <a:pPr algn="ctr"/>
                      <a:r>
                        <a:rPr sz="1100"/>
                        <a:t>변경 반영</a:t>
                      </a:r>
                    </a:p>
                  </a:txBody>
                  <a:tcPr>
                    <a:solidFill>
                      <a:srgbClr val="F0F5FA"/>
                    </a:solidFill>
                  </a:tcPr>
                </a:tc>
                <a:tc>
                  <a:txBody>
                    <a:bodyPr wrap="square"/>
                    <a:lstStyle/>
                    <a:p>
                      <a:pPr algn="ctr"/>
                      <a:r>
                        <a:rPr sz="1100"/>
                        <a:t>변경된 요구사항을 관련 설계·테스트 문서에 반영</a:t>
                      </a:r>
                    </a:p>
                  </a:txBody>
                  <a:tcPr>
                    <a:solidFill>
                      <a:srgbClr val="F0F5FA"/>
                    </a:solidFill>
                  </a:tcPr>
                </a:tc>
              </a:tr>
              <a:tr h="548640">
                <a:tc>
                  <a:txBody>
                    <a:bodyPr wrap="square"/>
                    <a:lstStyle/>
                    <a:p>
                      <a:pPr algn="ctr"/>
                      <a:r>
                        <a:rPr sz="1100"/>
                        <a:t>감리 대응</a:t>
                      </a:r>
                    </a:p>
                  </a:txBody>
                  <a:tcPr>
                    <a:solidFill>
                      <a:srgbClr val="F0F5FA"/>
                    </a:solidFill>
                  </a:tcPr>
                </a:tc>
                <a:tc>
                  <a:txBody>
                    <a:bodyPr wrap="square"/>
                    <a:lstStyle/>
                    <a:p>
                      <a:pPr algn="ctr"/>
                      <a:r>
                        <a:rPr sz="1100"/>
                        <a:t>요구사항 추적표 자동 생성 및 최신화</a:t>
                      </a:r>
                    </a:p>
                  </a:txBody>
                  <a:tcPr>
                    <a:solidFill>
                      <a:srgbClr val="F0F5FA"/>
                    </a:solidFill>
                  </a:tcPr>
                </a:tc>
              </a:tr>
              <a:tr h="548640">
                <a:tc>
                  <a:txBody>
                    <a:bodyPr wrap="square"/>
                    <a:lstStyle/>
                    <a:p>
                      <a:pPr algn="ctr"/>
                      <a:r>
                        <a:rPr sz="1100"/>
                        <a:t>보완 요청</a:t>
                      </a:r>
                    </a:p>
                  </a:txBody>
                  <a:tcPr>
                    <a:solidFill>
                      <a:srgbClr val="F0F5FA"/>
                    </a:solidFill>
                  </a:tcPr>
                </a:tc>
                <a:tc>
                  <a:txBody>
                    <a:bodyPr wrap="square"/>
                    <a:lstStyle/>
                    <a:p>
                      <a:pPr algn="ctr"/>
                      <a:r>
                        <a:rPr sz="1100"/>
                        <a:t>Jira Sub-task 또는 댓글로 담당자에게 보완 요청</a:t>
                      </a:r>
                    </a:p>
                  </a:txBody>
                  <a:tcPr>
                    <a:solidFill>
                      <a:srgbClr val="F0F5FA"/>
                    </a:solidFill>
                  </a:tcPr>
                </a:tc>
              </a:tr>
            </a:tbl>
          </a:graphicData>
        </a:graphic>
      </p:graphicFrame>
      <p:sp>
        <p:nvSpPr>
          <p:cNvPr id="4" name="TextBox 3"/>
          <p:cNvSpPr txBox="1"/>
          <p:nvPr/>
        </p:nvSpPr>
        <p:spPr>
          <a:xfrm>
            <a:off x="457200" y="3840480"/>
            <a:ext cx="11277295" cy="457200"/>
          </a:xfrm>
          <a:prstGeom prst="rect">
            <a:avLst/>
          </a:prstGeom>
          <a:noFill/>
        </p:spPr>
        <p:txBody>
          <a:bodyPr wrap="square">
            <a:spAutoFit/>
          </a:bodyPr>
          <a:lstStyle/>
          <a:p>
            <a:pPr>
              <a:defRPr sz="1400">
                <a:solidFill>
                  <a:srgbClr val="333333"/>
                </a:solidFill>
              </a:defRPr>
            </a:pPr>
            <a:r>
              <a:t>이를 통해 감리 지적 가능성을 줄이고, 요구사항 변경에 따른 설계·개발·테스트 영향도를 체계적으로 관리할 수 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548640"/>
          </a:xfrm>
          <a:prstGeom prst="rect">
            <a:avLst/>
          </a:prstGeom>
          <a:noFill/>
        </p:spPr>
        <p:txBody>
          <a:bodyPr wrap="none">
            <a:spAutoFit/>
          </a:bodyPr>
          <a:lstStyle/>
          <a:p>
            <a:pPr>
              <a:defRPr sz="1800" b="1">
                <a:solidFill>
                  <a:srgbClr val="2163BB"/>
                </a:solidFill>
              </a:defRPr>
            </a:pPr>
            <a:r>
              <a:t>4.3 공정관리 자동화</a:t>
            </a:r>
          </a:p>
        </p:txBody>
      </p:sp>
      <p:sp>
        <p:nvSpPr>
          <p:cNvPr id="3" name="TextBox 2"/>
          <p:cNvSpPr txBox="1"/>
          <p:nvPr/>
        </p:nvSpPr>
        <p:spPr>
          <a:xfrm>
            <a:off x="457200" y="960120"/>
            <a:ext cx="11277295" cy="457200"/>
          </a:xfrm>
          <a:prstGeom prst="rect">
            <a:avLst/>
          </a:prstGeom>
          <a:noFill/>
        </p:spPr>
        <p:txBody>
          <a:bodyPr wrap="square">
            <a:spAutoFit/>
          </a:bodyPr>
          <a:lstStyle/>
          <a:p>
            <a:pPr>
              <a:defRPr sz="1400">
                <a:solidFill>
                  <a:srgbClr val="333333"/>
                </a:solidFill>
              </a:defRPr>
            </a:pPr>
            <a:r>
              <a:t>현재 주간보고, 월간보고 작성 시 WBS, Jira 이슈, 산출물 현황, 개발 진행률, 결함 현황을 별도 담당자가 수작업으로 취합하고 있다. 이 과정은 반복적이고 시간이 많이 소요되며, 개발자의 주관적 보고에 따라 공정률이 왜곡될 수 있다.</a:t>
            </a:r>
          </a:p>
        </p:txBody>
      </p:sp>
      <p:sp>
        <p:nvSpPr>
          <p:cNvPr id="4" name="TextBox 3"/>
          <p:cNvSpPr txBox="1"/>
          <p:nvPr/>
        </p:nvSpPr>
        <p:spPr>
          <a:xfrm>
            <a:off x="457200" y="1417320"/>
            <a:ext cx="11277295" cy="457200"/>
          </a:xfrm>
          <a:prstGeom prst="rect">
            <a:avLst/>
          </a:prstGeom>
          <a:noFill/>
        </p:spPr>
        <p:txBody>
          <a:bodyPr wrap="square">
            <a:spAutoFit/>
          </a:bodyPr>
          <a:lstStyle/>
          <a:p>
            <a:pPr>
              <a:defRPr sz="1400">
                <a:solidFill>
                  <a:srgbClr val="333333"/>
                </a:solidFill>
              </a:defRPr>
            </a:pPr>
            <a:r>
              <a:t>개선 방향은 기존의 “개발자 보고 기반 공정률”을 “TDD 통과 기준 기반 공정률”로 전환하는 것이다.</a:t>
            </a:r>
          </a:p>
        </p:txBody>
      </p:sp>
      <p:graphicFrame>
        <p:nvGraphicFramePr>
          <p:cNvPr id="5" name="Table 4"/>
          <p:cNvGraphicFramePr>
            <a:graphicFrameLocks noGrp="1"/>
          </p:cNvGraphicFramePr>
          <p:nvPr/>
        </p:nvGraphicFramePr>
        <p:xfrm>
          <a:off x="457200" y="1874519"/>
          <a:ext cx="11277294" cy="2743200"/>
        </p:xfrm>
        <a:graphic>
          <a:graphicData uri="http://schemas.openxmlformats.org/drawingml/2006/table">
            <a:tbl>
              <a:tblPr firstRow="1" bandRow="1">
                <a:tableStyleId>{5C22544A-7EE6-4342-B048-85BDC9FD1C3A}</a:tableStyleId>
              </a:tblPr>
              <a:tblGrid>
                <a:gridCol w="5638647"/>
                <a:gridCol w="5638647"/>
              </a:tblGrid>
              <a:tr h="2743200">
                <a:tc>
                  <a:txBody>
                    <a:bodyPr wrap="square"/>
                    <a:lstStyle/>
                    <a:p>
                      <a:pPr algn="ctr"/>
                      <a:r>
                        <a:rPr sz="1100" b="1">
                          <a:solidFill>
                            <a:srgbClr val="FFFFFF"/>
                          </a:solidFill>
                        </a:rPr>
                        <a:t>기존 공정률 기준</a:t>
                      </a:r>
                    </a:p>
                  </a:txBody>
                  <a:tcPr>
                    <a:solidFill>
                      <a:srgbClr val="2163BB"/>
                    </a:solidFill>
                  </a:tcPr>
                </a:tc>
                <a:tc>
                  <a:txBody>
                    <a:bodyPr wrap="square"/>
                    <a:lstStyle/>
                    <a:p>
                      <a:pPr algn="ctr"/>
                      <a:r>
                        <a:rPr sz="1100" b="1">
                          <a:solidFill>
                            <a:srgbClr val="FFFFFF"/>
                          </a:solidFill>
                        </a:rPr>
                        <a:t>개선 공정률 기준</a:t>
                      </a:r>
                    </a:p>
                  </a:txBody>
                  <a:tcPr>
                    <a:solidFill>
                      <a:srgbClr val="2163BB"/>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graphicFrame>
        <p:nvGraphicFramePr>
          <p:cNvPr id="3" name="Table 2"/>
          <p:cNvGraphicFramePr>
            <a:graphicFrameLocks noGrp="1"/>
          </p:cNvGraphicFramePr>
          <p:nvPr/>
        </p:nvGraphicFramePr>
        <p:xfrm>
          <a:off x="457200" y="822960"/>
          <a:ext cx="11277294" cy="2743200"/>
        </p:xfrm>
        <a:graphic>
          <a:graphicData uri="http://schemas.openxmlformats.org/drawingml/2006/table">
            <a:tbl>
              <a:tblPr firstRow="1" bandRow="1">
                <a:tableStyleId>{5C22544A-7EE6-4342-B048-85BDC9FD1C3A}</a:tableStyleId>
              </a:tblPr>
              <a:tblGrid>
                <a:gridCol w="5638647"/>
                <a:gridCol w="5638647"/>
              </a:tblGrid>
              <a:tr h="548640">
                <a:tc>
                  <a:txBody>
                    <a:bodyPr wrap="square"/>
                    <a:lstStyle/>
                    <a:p>
                      <a:pPr algn="ctr"/>
                      <a:r>
                        <a:rPr sz="1100" b="1">
                          <a:solidFill>
                            <a:srgbClr val="FFFFFF"/>
                          </a:solidFill>
                        </a:rPr>
                        <a:t>개발자 주관적 진행률 입력</a:t>
                      </a:r>
                    </a:p>
                  </a:txBody>
                  <a:tcPr>
                    <a:solidFill>
                      <a:srgbClr val="2163BB"/>
                    </a:solidFill>
                  </a:tcPr>
                </a:tc>
                <a:tc>
                  <a:txBody>
                    <a:bodyPr wrap="square"/>
                    <a:lstStyle/>
                    <a:p>
                      <a:pPr algn="ctr"/>
                      <a:r>
                        <a:rPr sz="1100" b="1">
                          <a:solidFill>
                            <a:srgbClr val="FFFFFF"/>
                          </a:solidFill>
                        </a:rPr>
                        <a:t>Jira Task 완료 상태</a:t>
                      </a:r>
                    </a:p>
                  </a:txBody>
                  <a:tcPr>
                    <a:solidFill>
                      <a:srgbClr val="2163BB"/>
                    </a:solidFill>
                  </a:tcPr>
                </a:tc>
              </a:tr>
              <a:tr h="548640">
                <a:tc>
                  <a:txBody>
                    <a:bodyPr wrap="square"/>
                    <a:lstStyle/>
                    <a:p>
                      <a:pPr algn="ctr"/>
                      <a:r>
                        <a:rPr sz="1100"/>
                        <a:t>PM 수작업 취합</a:t>
                      </a:r>
                    </a:p>
                  </a:txBody>
                  <a:tcPr>
                    <a:solidFill>
                      <a:srgbClr val="F0F5FA"/>
                    </a:solidFill>
                  </a:tcPr>
                </a:tc>
                <a:tc>
                  <a:txBody>
                    <a:bodyPr wrap="square"/>
                    <a:lstStyle/>
                    <a:p>
                      <a:pPr algn="ctr"/>
                      <a:r>
                        <a:rPr sz="1100"/>
                        <a:t>Jira 자동 집계</a:t>
                      </a:r>
                    </a:p>
                  </a:txBody>
                  <a:tcPr>
                    <a:solidFill>
                      <a:srgbClr val="F0F5FA"/>
                    </a:solidFill>
                  </a:tcPr>
                </a:tc>
              </a:tr>
              <a:tr h="548640">
                <a:tc>
                  <a:txBody>
                    <a:bodyPr wrap="square"/>
                    <a:lstStyle/>
                    <a:p>
                      <a:pPr algn="ctr"/>
                      <a:r>
                        <a:rPr sz="1100"/>
                        <a:t>산출물 별도 확인</a:t>
                      </a:r>
                    </a:p>
                  </a:txBody>
                  <a:tcPr>
                    <a:solidFill>
                      <a:srgbClr val="F0F5FA"/>
                    </a:solidFill>
                  </a:tcPr>
                </a:tc>
                <a:tc>
                  <a:txBody>
                    <a:bodyPr wrap="square"/>
                    <a:lstStyle/>
                    <a:p>
                      <a:pPr algn="ctr"/>
                      <a:r>
                        <a:rPr sz="1100"/>
                        <a:t>Confluence Page Properties 기반 취합</a:t>
                      </a:r>
                    </a:p>
                  </a:txBody>
                  <a:tcPr>
                    <a:solidFill>
                      <a:srgbClr val="F0F5FA"/>
                    </a:solidFill>
                  </a:tcPr>
                </a:tc>
              </a:tr>
              <a:tr h="548640">
                <a:tc>
                  <a:txBody>
                    <a:bodyPr wrap="square"/>
                    <a:lstStyle/>
                    <a:p>
                      <a:pPr algn="ctr"/>
                      <a:r>
                        <a:rPr sz="1100"/>
                        <a:t>테스트 결과 수동 확인</a:t>
                      </a:r>
                    </a:p>
                  </a:txBody>
                  <a:tcPr>
                    <a:solidFill>
                      <a:srgbClr val="F0F5FA"/>
                    </a:solidFill>
                  </a:tcPr>
                </a:tc>
                <a:tc>
                  <a:txBody>
                    <a:bodyPr wrap="square"/>
                    <a:lstStyle/>
                    <a:p>
                      <a:pPr algn="ctr"/>
                      <a:r>
                        <a:rPr sz="1100"/>
                        <a:t>TDD/테스트 통과 여부 기반 확인</a:t>
                      </a:r>
                    </a:p>
                  </a:txBody>
                  <a:tcPr>
                    <a:solidFill>
                      <a:srgbClr val="F0F5FA"/>
                    </a:solidFill>
                  </a:tcPr>
                </a:tc>
              </a:tr>
              <a:tr h="548640">
                <a:tc>
                  <a:txBody>
                    <a:bodyPr wrap="square"/>
                    <a:lstStyle/>
                    <a:p>
                      <a:pPr algn="ctr"/>
                      <a:r>
                        <a:rPr sz="1100"/>
                        <a:t>보고서 수작업 작성</a:t>
                      </a:r>
                    </a:p>
                  </a:txBody>
                  <a:tcPr>
                    <a:solidFill>
                      <a:srgbClr val="F0F5FA"/>
                    </a:solidFill>
                  </a:tcPr>
                </a:tc>
                <a:tc>
                  <a:txBody>
                    <a:bodyPr wrap="square"/>
                    <a:lstStyle/>
                    <a:p>
                      <a:pPr algn="ctr"/>
                      <a:r>
                        <a:rPr sz="1100"/>
                        <a:t>AI 기반 주간·월간보고 자동 생성</a:t>
                      </a:r>
                    </a:p>
                  </a:txBody>
                  <a:tcPr>
                    <a:solidFill>
                      <a:srgbClr val="F0F5FA"/>
                    </a:solidFill>
                  </a:tcPr>
                </a:tc>
              </a:tr>
            </a:tbl>
          </a:graphicData>
        </a:graphic>
      </p:graphicFrame>
      <p:sp>
        <p:nvSpPr>
          <p:cNvPr id="4" name="TextBox 3"/>
          <p:cNvSpPr txBox="1"/>
          <p:nvPr/>
        </p:nvSpPr>
        <p:spPr>
          <a:xfrm>
            <a:off x="457200" y="3840480"/>
            <a:ext cx="11277295" cy="457200"/>
          </a:xfrm>
          <a:prstGeom prst="rect">
            <a:avLst/>
          </a:prstGeom>
          <a:noFill/>
        </p:spPr>
        <p:txBody>
          <a:bodyPr wrap="square">
            <a:spAutoFit/>
          </a:bodyPr>
          <a:lstStyle/>
          <a:p>
            <a:pPr>
              <a:defRPr sz="1400">
                <a:solidFill>
                  <a:srgbClr val="333333"/>
                </a:solidFill>
              </a:defRPr>
            </a:pPr>
            <a:r>
              <a:t>공정률 산정 기준 예시는 다음과 같다.</a:t>
            </a:r>
          </a:p>
        </p:txBody>
      </p:sp>
      <p:sp>
        <p:nvSpPr>
          <p:cNvPr id="5" name="TextBox 4"/>
          <p:cNvSpPr txBox="1"/>
          <p:nvPr/>
        </p:nvSpPr>
        <p:spPr>
          <a:xfrm>
            <a:off x="457200" y="4297680"/>
            <a:ext cx="11277295" cy="457200"/>
          </a:xfrm>
          <a:prstGeom prst="rect">
            <a:avLst/>
          </a:prstGeom>
          <a:noFill/>
        </p:spPr>
        <p:txBody>
          <a:bodyPr wrap="square">
            <a:spAutoFit/>
          </a:bodyPr>
          <a:lstStyle/>
          <a:p>
            <a:pPr>
              <a:defRPr sz="1400">
                <a:solidFill>
                  <a:srgbClr val="333333"/>
                </a:solidFill>
              </a:defRPr>
            </a:pPr>
            <a:r>
              <a:t>요구사항 명세 완료: 10% &gt; 설계 문서 승인: 20% &gt; 테스트케이스 작성 완료: 30% &gt; TDD 테스트 작성 완료: 40% &gt; 단위 테스트 통과: 60% &gt; 통합 테스트 통과: 80% &gt; 고객 검토 및 승인: 100%</a:t>
            </a:r>
          </a:p>
        </p:txBody>
      </p:sp>
      <p:sp>
        <p:nvSpPr>
          <p:cNvPr id="6" name="TextBox 5"/>
          <p:cNvSpPr txBox="1"/>
          <p:nvPr/>
        </p:nvSpPr>
        <p:spPr>
          <a:xfrm>
            <a:off x="457200" y="4754880"/>
            <a:ext cx="11277295" cy="457200"/>
          </a:xfrm>
          <a:prstGeom prst="rect">
            <a:avLst/>
          </a:prstGeom>
          <a:noFill/>
        </p:spPr>
        <p:txBody>
          <a:bodyPr wrap="square">
            <a:spAutoFit/>
          </a:bodyPr>
          <a:lstStyle/>
          <a:p>
            <a:pPr>
              <a:defRPr sz="1400">
                <a:solidFill>
                  <a:srgbClr val="333333"/>
                </a:solidFill>
              </a:defRPr>
            </a:pPr>
            <a:r>
              <a:t>이를 통해 허위 보고 가능성을 줄이고, 실제 산출물과 테스트 결과에 기반한 객관적 공정관리가 가능해진다.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548640"/>
          </a:xfrm>
          <a:prstGeom prst="rect">
            <a:avLst/>
          </a:prstGeom>
          <a:noFill/>
        </p:spPr>
        <p:txBody>
          <a:bodyPr wrap="none">
            <a:spAutoFit/>
          </a:bodyPr>
          <a:lstStyle/>
          <a:p>
            <a:pPr>
              <a:defRPr sz="1800" b="1">
                <a:solidFill>
                  <a:srgbClr val="2163BB"/>
                </a:solidFill>
              </a:defRPr>
            </a:pPr>
            <a:r>
              <a:t>4.4 개발 자동화 및 품질 향상</a:t>
            </a:r>
          </a:p>
        </p:txBody>
      </p:sp>
      <p:sp>
        <p:nvSpPr>
          <p:cNvPr id="3" name="TextBox 2"/>
          <p:cNvSpPr txBox="1"/>
          <p:nvPr/>
        </p:nvSpPr>
        <p:spPr>
          <a:xfrm>
            <a:off x="457200" y="960120"/>
            <a:ext cx="11277295" cy="457200"/>
          </a:xfrm>
          <a:prstGeom prst="rect">
            <a:avLst/>
          </a:prstGeom>
          <a:noFill/>
        </p:spPr>
        <p:txBody>
          <a:bodyPr wrap="square">
            <a:spAutoFit/>
          </a:bodyPr>
          <a:lstStyle/>
          <a:p>
            <a:pPr>
              <a:defRPr sz="1400">
                <a:solidFill>
                  <a:srgbClr val="333333"/>
                </a:solidFill>
              </a:defRPr>
            </a:pPr>
            <a:r>
              <a:t>정확한 요구사항 명세를 입력으로 사용하여 Claude Code, Spec Kit, AI CLI 도구를 통해 기능 구현과 테스트를 자동화한다. 개발 자동화의 핵심은 단순 코드 생성이 아니라, 다음 흐름을 정착시키는 것이다.</a:t>
            </a:r>
          </a:p>
        </p:txBody>
      </p:sp>
      <p:sp>
        <p:nvSpPr>
          <p:cNvPr id="4" name="TextBox 3"/>
          <p:cNvSpPr txBox="1"/>
          <p:nvPr/>
        </p:nvSpPr>
        <p:spPr>
          <a:xfrm>
            <a:off x="457200" y="1417320"/>
            <a:ext cx="11277295" cy="457200"/>
          </a:xfrm>
          <a:prstGeom prst="rect">
            <a:avLst/>
          </a:prstGeom>
          <a:noFill/>
        </p:spPr>
        <p:txBody>
          <a:bodyPr wrap="square">
            <a:spAutoFit/>
          </a:bodyPr>
          <a:lstStyle/>
          <a:p>
            <a:pPr>
              <a:defRPr sz="1400">
                <a:solidFill>
                  <a:srgbClr val="333333"/>
                </a:solidFill>
              </a:defRPr>
            </a:pPr>
            <a:r>
              <a:t>요구사항정의서 → 유스케이스정의서 → 화면정의서 → 테이블정의서 → Spec 작성 → Plan 작성 → TDD 작성 → Task 분해 → 코드 구현 → 테스트 통과 → 산출물 업데이트</a:t>
            </a:r>
          </a:p>
        </p:txBody>
      </p:sp>
      <p:sp>
        <p:nvSpPr>
          <p:cNvPr id="5" name="TextBox 4"/>
          <p:cNvSpPr txBox="1"/>
          <p:nvPr/>
        </p:nvSpPr>
        <p:spPr>
          <a:xfrm>
            <a:off x="457200" y="1874519"/>
            <a:ext cx="11277295" cy="457200"/>
          </a:xfrm>
          <a:prstGeom prst="rect">
            <a:avLst/>
          </a:prstGeom>
          <a:noFill/>
        </p:spPr>
        <p:txBody>
          <a:bodyPr wrap="square">
            <a:spAutoFit/>
          </a:bodyPr>
          <a:lstStyle/>
          <a:p>
            <a:pPr>
              <a:defRPr sz="1400">
                <a:solidFill>
                  <a:srgbClr val="333333"/>
                </a:solidFill>
              </a:defRPr>
            </a:pPr>
            <a:r>
              <a:t>이를 통해 개발자는 반복적인 보일러플레이트 코드 작성보다 요구사항 검증, 예외 처리, 품질 개선에 집중할 수 있다.</a:t>
            </a:r>
          </a:p>
        </p:txBody>
      </p:sp>
      <p:sp>
        <p:nvSpPr>
          <p:cNvPr id="6" name="TextBox 5"/>
          <p:cNvSpPr txBox="1"/>
          <p:nvPr/>
        </p:nvSpPr>
        <p:spPr>
          <a:xfrm>
            <a:off x="457200" y="2331720"/>
            <a:ext cx="11277295" cy="548640"/>
          </a:xfrm>
          <a:prstGeom prst="rect">
            <a:avLst/>
          </a:prstGeom>
          <a:noFill/>
        </p:spPr>
        <p:txBody>
          <a:bodyPr wrap="none">
            <a:spAutoFit/>
          </a:bodyPr>
          <a:lstStyle/>
          <a:p>
            <a:pPr>
              <a:defRPr sz="1800" b="1">
                <a:solidFill>
                  <a:srgbClr val="2163BB"/>
                </a:solidFill>
              </a:defRPr>
            </a:pPr>
            <a:r>
              <a:t>4.5 애자일 프로젝트 정착</a:t>
            </a:r>
          </a:p>
        </p:txBody>
      </p:sp>
      <p:sp>
        <p:nvSpPr>
          <p:cNvPr id="7" name="TextBox 6"/>
          <p:cNvSpPr txBox="1"/>
          <p:nvPr/>
        </p:nvSpPr>
        <p:spPr>
          <a:xfrm>
            <a:off x="457200" y="2926079"/>
            <a:ext cx="11277295" cy="457200"/>
          </a:xfrm>
          <a:prstGeom prst="rect">
            <a:avLst/>
          </a:prstGeom>
          <a:noFill/>
        </p:spPr>
        <p:txBody>
          <a:bodyPr wrap="square">
            <a:spAutoFit/>
          </a:bodyPr>
          <a:lstStyle/>
          <a:p>
            <a:pPr>
              <a:defRPr sz="1400">
                <a:solidFill>
                  <a:srgbClr val="333333"/>
                </a:solidFill>
              </a:defRPr>
            </a:pPr>
            <a:r>
              <a:t>공공기관 프로젝트는 폭포수 모델 기반으로 수행되는 경우가 많아 개발 후반부 또는 오픈 시점에 다수의 오류가 집중적으로 발견된다. 공공기관의 공식 산출물 체계는 유지하되, 내부 개발 프로세스는 애자일 방식으로 전환하여 품질과 대응 속도를 높인다.</a:t>
            </a:r>
          </a:p>
        </p:txBody>
      </p:sp>
      <p:graphicFrame>
        <p:nvGraphicFramePr>
          <p:cNvPr id="8" name="Table 7"/>
          <p:cNvGraphicFramePr>
            <a:graphicFrameLocks noGrp="1"/>
          </p:cNvGraphicFramePr>
          <p:nvPr/>
        </p:nvGraphicFramePr>
        <p:xfrm>
          <a:off x="457200" y="3383279"/>
          <a:ext cx="11277294" cy="2560320"/>
        </p:xfrm>
        <a:graphic>
          <a:graphicData uri="http://schemas.openxmlformats.org/drawingml/2006/table">
            <a:tbl>
              <a:tblPr firstRow="1" bandRow="1">
                <a:tableStyleId>{5C22544A-7EE6-4342-B048-85BDC9FD1C3A}</a:tableStyleId>
              </a:tblPr>
              <a:tblGrid>
                <a:gridCol w="5638647"/>
                <a:gridCol w="5638647"/>
              </a:tblGrid>
              <a:tr h="2560320">
                <a:tc>
                  <a:txBody>
                    <a:bodyPr wrap="square"/>
                    <a:lstStyle/>
                    <a:p>
                      <a:pPr algn="ctr"/>
                      <a:r>
                        <a:rPr sz="1100" b="1">
                          <a:solidFill>
                            <a:srgbClr val="FFFFFF"/>
                          </a:solidFill>
                        </a:rPr>
                        <a:t>기존 방식</a:t>
                      </a:r>
                    </a:p>
                  </a:txBody>
                  <a:tcPr>
                    <a:solidFill>
                      <a:srgbClr val="2163BB"/>
                    </a:solidFill>
                  </a:tcPr>
                </a:tc>
                <a:tc>
                  <a:txBody>
                    <a:bodyPr wrap="square"/>
                    <a:lstStyle/>
                    <a:p>
                      <a:pPr algn="ctr"/>
                      <a:r>
                        <a:rPr sz="1100" b="1">
                          <a:solidFill>
                            <a:srgbClr val="FFFFFF"/>
                          </a:solidFill>
                        </a:rPr>
                        <a:t>개선 방식</a:t>
                      </a:r>
                    </a:p>
                  </a:txBody>
                  <a:tcPr>
                    <a:solidFill>
                      <a:srgbClr val="2163BB"/>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graphicFrame>
        <p:nvGraphicFramePr>
          <p:cNvPr id="3" name="Table 2"/>
          <p:cNvGraphicFramePr>
            <a:graphicFrameLocks noGrp="1"/>
          </p:cNvGraphicFramePr>
          <p:nvPr/>
        </p:nvGraphicFramePr>
        <p:xfrm>
          <a:off x="457200" y="822960"/>
          <a:ext cx="11277294" cy="2743200"/>
        </p:xfrm>
        <a:graphic>
          <a:graphicData uri="http://schemas.openxmlformats.org/drawingml/2006/table">
            <a:tbl>
              <a:tblPr firstRow="1" bandRow="1">
                <a:tableStyleId>{5C22544A-7EE6-4342-B048-85BDC9FD1C3A}</a:tableStyleId>
              </a:tblPr>
              <a:tblGrid>
                <a:gridCol w="5638647"/>
                <a:gridCol w="5638647"/>
              </a:tblGrid>
              <a:tr h="548640">
                <a:tc>
                  <a:txBody>
                    <a:bodyPr wrap="square"/>
                    <a:lstStyle/>
                    <a:p>
                      <a:pPr algn="ctr"/>
                      <a:r>
                        <a:rPr sz="1100" b="1">
                          <a:solidFill>
                            <a:srgbClr val="FFFFFF"/>
                          </a:solidFill>
                        </a:rPr>
                        <a:t>전체 설계 후 일괄 개발</a:t>
                      </a:r>
                    </a:p>
                  </a:txBody>
                  <a:tcPr>
                    <a:solidFill>
                      <a:srgbClr val="2163BB"/>
                    </a:solidFill>
                  </a:tcPr>
                </a:tc>
                <a:tc>
                  <a:txBody>
                    <a:bodyPr wrap="square"/>
                    <a:lstStyle/>
                    <a:p>
                      <a:pPr algn="ctr"/>
                      <a:r>
                        <a:rPr sz="1100" b="1">
                          <a:solidFill>
                            <a:srgbClr val="FFFFFF"/>
                          </a:solidFill>
                        </a:rPr>
                        <a:t>요구사항 단위 점진 개발</a:t>
                      </a:r>
                    </a:p>
                  </a:txBody>
                  <a:tcPr>
                    <a:solidFill>
                      <a:srgbClr val="2163BB"/>
                    </a:solidFill>
                  </a:tcPr>
                </a:tc>
              </a:tr>
              <a:tr h="548640">
                <a:tc>
                  <a:txBody>
                    <a:bodyPr wrap="square"/>
                    <a:lstStyle/>
                    <a:p>
                      <a:pPr algn="ctr"/>
                      <a:r>
                        <a:rPr sz="1100"/>
                        <a:t>오픈 시점 오류 집중</a:t>
                      </a:r>
                    </a:p>
                  </a:txBody>
                  <a:tcPr>
                    <a:solidFill>
                      <a:srgbClr val="F0F5FA"/>
                    </a:solidFill>
                  </a:tcPr>
                </a:tc>
                <a:tc>
                  <a:txBody>
                    <a:bodyPr wrap="square"/>
                    <a:lstStyle/>
                    <a:p>
                      <a:pPr algn="ctr"/>
                      <a:r>
                        <a:rPr sz="1100"/>
                        <a:t>프로토타입 기반 조기 검증</a:t>
                      </a:r>
                    </a:p>
                  </a:txBody>
                  <a:tcPr>
                    <a:solidFill>
                      <a:srgbClr val="F0F5FA"/>
                    </a:solidFill>
                  </a:tcPr>
                </a:tc>
              </a:tr>
              <a:tr h="548640">
                <a:tc>
                  <a:txBody>
                    <a:bodyPr wrap="square"/>
                    <a:lstStyle/>
                    <a:p>
                      <a:pPr algn="ctr"/>
                      <a:r>
                        <a:rPr sz="1100"/>
                        <a:t>문서와 개발 분리</a:t>
                      </a:r>
                    </a:p>
                  </a:txBody>
                  <a:tcPr>
                    <a:solidFill>
                      <a:srgbClr val="F0F5FA"/>
                    </a:solidFill>
                  </a:tcPr>
                </a:tc>
                <a:tc>
                  <a:txBody>
                    <a:bodyPr wrap="square"/>
                    <a:lstStyle/>
                    <a:p>
                      <a:pPr algn="ctr"/>
                      <a:r>
                        <a:rPr sz="1100"/>
                        <a:t>문서·테스트·코드 연계</a:t>
                      </a:r>
                    </a:p>
                  </a:txBody>
                  <a:tcPr>
                    <a:solidFill>
                      <a:srgbClr val="F0F5FA"/>
                    </a:solidFill>
                  </a:tcPr>
                </a:tc>
              </a:tr>
              <a:tr h="548640">
                <a:tc>
                  <a:txBody>
                    <a:bodyPr wrap="square"/>
                    <a:lstStyle/>
                    <a:p>
                      <a:pPr algn="ctr"/>
                      <a:r>
                        <a:rPr sz="1100"/>
                        <a:t>테스트 후행</a:t>
                      </a:r>
                    </a:p>
                  </a:txBody>
                  <a:tcPr>
                    <a:solidFill>
                      <a:srgbClr val="F0F5FA"/>
                    </a:solidFill>
                  </a:tcPr>
                </a:tc>
                <a:tc>
                  <a:txBody>
                    <a:bodyPr wrap="square"/>
                    <a:lstStyle/>
                    <a:p>
                      <a:pPr algn="ctr"/>
                      <a:r>
                        <a:rPr sz="1100"/>
                        <a:t>TDD 기반 테스트 선행</a:t>
                      </a:r>
                    </a:p>
                  </a:txBody>
                  <a:tcPr>
                    <a:solidFill>
                      <a:srgbClr val="F0F5FA"/>
                    </a:solidFill>
                  </a:tcPr>
                </a:tc>
              </a:tr>
              <a:tr h="548640">
                <a:tc>
                  <a:txBody>
                    <a:bodyPr wrap="square"/>
                    <a:lstStyle/>
                    <a:p>
                      <a:pPr algn="ctr"/>
                      <a:r>
                        <a:rPr sz="1100"/>
                        <a:t>고객 피드백 지연</a:t>
                      </a:r>
                    </a:p>
                  </a:txBody>
                  <a:tcPr>
                    <a:solidFill>
                      <a:srgbClr val="F0F5FA"/>
                    </a:solidFill>
                  </a:tcPr>
                </a:tc>
                <a:tc>
                  <a:txBody>
                    <a:bodyPr wrap="square"/>
                    <a:lstStyle/>
                    <a:p>
                      <a:pPr algn="ctr"/>
                      <a:r>
                        <a:rPr sz="1100"/>
                        <a:t>반복 검토 및 보완</a:t>
                      </a:r>
                    </a:p>
                  </a:txBody>
                  <a:tcPr>
                    <a:solidFill>
                      <a:srgbClr val="F0F5FA"/>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2163BB"/>
                </a:solidFill>
              </a:defRPr>
            </a:pPr>
            <a:r>
              <a:t>5. AI 기반 업무 혁신 방향</a:t>
            </a:r>
          </a:p>
        </p:txBody>
      </p:sp>
      <p:sp>
        <p:nvSpPr>
          <p:cNvPr id="3" name="TextBox 2"/>
          <p:cNvSpPr txBox="1"/>
          <p:nvPr/>
        </p:nvSpPr>
        <p:spPr>
          <a:xfrm>
            <a:off x="457200" y="1143000"/>
            <a:ext cx="11277295" cy="457200"/>
          </a:xfrm>
          <a:prstGeom prst="rect">
            <a:avLst/>
          </a:prstGeom>
          <a:noFill/>
        </p:spPr>
        <p:txBody>
          <a:bodyPr wrap="square">
            <a:spAutoFit/>
          </a:bodyPr>
          <a:lstStyle/>
          <a:p>
            <a:pPr>
              <a:defRPr sz="1400">
                <a:solidFill>
                  <a:srgbClr val="333333"/>
                </a:solidFill>
              </a:defRPr>
            </a:pPr>
            <a:r>
              <a:t>본 과제의 핵심은 AI CLI 도구를 활용해 코딩만 자동화하는 것이 아니다. 프로젝트 공정에서 발생하는 역할별 룰과 워크플로우를 정리하고, AI가 이를 수행하거나 보조할 수 있도록 체계화하는 것이다.</a:t>
            </a:r>
          </a:p>
        </p:txBody>
      </p:sp>
      <p:sp>
        <p:nvSpPr>
          <p:cNvPr id="4" name="TextBox 3"/>
          <p:cNvSpPr txBox="1"/>
          <p:nvPr/>
        </p:nvSpPr>
        <p:spPr>
          <a:xfrm>
            <a:off x="457200" y="1600200"/>
            <a:ext cx="11277295" cy="457200"/>
          </a:xfrm>
          <a:prstGeom prst="rect">
            <a:avLst/>
          </a:prstGeom>
          <a:noFill/>
        </p:spPr>
        <p:txBody>
          <a:bodyPr wrap="square">
            <a:spAutoFit/>
          </a:bodyPr>
          <a:lstStyle/>
          <a:p>
            <a:pPr>
              <a:defRPr sz="1400">
                <a:solidFill>
                  <a:srgbClr val="333333"/>
                </a:solidFill>
              </a:defRPr>
            </a:pPr>
            <a:r>
              <a:t>AI 적용 대상은 다음과 같다.</a:t>
            </a:r>
          </a:p>
        </p:txBody>
      </p:sp>
      <p:graphicFrame>
        <p:nvGraphicFramePr>
          <p:cNvPr id="5" name="Table 4"/>
          <p:cNvGraphicFramePr>
            <a:graphicFrameLocks noGrp="1"/>
          </p:cNvGraphicFramePr>
          <p:nvPr/>
        </p:nvGraphicFramePr>
        <p:xfrm>
          <a:off x="457200" y="2057400"/>
          <a:ext cx="11277294" cy="2743200"/>
        </p:xfrm>
        <a:graphic>
          <a:graphicData uri="http://schemas.openxmlformats.org/drawingml/2006/table">
            <a:tbl>
              <a:tblPr firstRow="1" bandRow="1">
                <a:tableStyleId>{5C22544A-7EE6-4342-B048-85BDC9FD1C3A}</a:tableStyleId>
              </a:tblPr>
              <a:tblGrid>
                <a:gridCol w="5638647"/>
                <a:gridCol w="5638647"/>
              </a:tblGrid>
              <a:tr h="2743200">
                <a:tc>
                  <a:txBody>
                    <a:bodyPr wrap="square"/>
                    <a:lstStyle/>
                    <a:p>
                      <a:pPr algn="ctr"/>
                      <a:r>
                        <a:rPr sz="1100" b="1">
                          <a:solidFill>
                            <a:srgbClr val="FFFFFF"/>
                          </a:solidFill>
                        </a:rPr>
                        <a:t>영역</a:t>
                      </a:r>
                    </a:p>
                  </a:txBody>
                  <a:tcPr>
                    <a:solidFill>
                      <a:srgbClr val="2163BB"/>
                    </a:solidFill>
                  </a:tcPr>
                </a:tc>
                <a:tc>
                  <a:txBody>
                    <a:bodyPr wrap="square"/>
                    <a:lstStyle/>
                    <a:p>
                      <a:pPr algn="ctr"/>
                      <a:r>
                        <a:rPr sz="1100" b="1">
                          <a:solidFill>
                            <a:srgbClr val="FFFFFF"/>
                          </a:solidFill>
                        </a:rPr>
                        <a:t>AI 활용 방안</a:t>
                      </a:r>
                    </a:p>
                  </a:txBody>
                  <a:tcPr>
                    <a:solidFill>
                      <a:srgbClr val="2163BB"/>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graphicFrame>
        <p:nvGraphicFramePr>
          <p:cNvPr id="2" name="Table 1"/>
          <p:cNvGraphicFramePr>
            <a:graphicFrameLocks noGrp="1"/>
          </p:cNvGraphicFramePr>
          <p:nvPr/>
        </p:nvGraphicFramePr>
        <p:xfrm>
          <a:off x="457200" y="365760"/>
          <a:ext cx="11277294" cy="2743200"/>
        </p:xfrm>
        <a:graphic>
          <a:graphicData uri="http://schemas.openxmlformats.org/drawingml/2006/table">
            <a:tbl>
              <a:tblPr firstRow="1" bandRow="1">
                <a:tableStyleId>{5C22544A-7EE6-4342-B048-85BDC9FD1C3A}</a:tableStyleId>
              </a:tblPr>
              <a:tblGrid>
                <a:gridCol w="5638647"/>
                <a:gridCol w="5638647"/>
              </a:tblGrid>
              <a:tr h="391885">
                <a:tc>
                  <a:txBody>
                    <a:bodyPr wrap="square"/>
                    <a:lstStyle/>
                    <a:p>
                      <a:pPr algn="ctr"/>
                      <a:r>
                        <a:rPr sz="1100" b="1">
                          <a:solidFill>
                            <a:srgbClr val="FFFFFF"/>
                          </a:solidFill>
                        </a:rPr>
                        <a:t>문서관리</a:t>
                      </a:r>
                    </a:p>
                  </a:txBody>
                  <a:tcPr>
                    <a:solidFill>
                      <a:srgbClr val="2163BB"/>
                    </a:solidFill>
                  </a:tcPr>
                </a:tc>
                <a:tc>
                  <a:txBody>
                    <a:bodyPr wrap="square"/>
                    <a:lstStyle/>
                    <a:p>
                      <a:pPr algn="ctr"/>
                      <a:r>
                        <a:rPr sz="1100" b="1">
                          <a:solidFill>
                            <a:srgbClr val="FFFFFF"/>
                          </a:solidFill>
                        </a:rPr>
                        <a:t>산출물 템플릿 생성, 누락 검토, 문서 비교</a:t>
                      </a:r>
                    </a:p>
                  </a:txBody>
                  <a:tcPr>
                    <a:solidFill>
                      <a:srgbClr val="2163BB"/>
                    </a:solidFill>
                  </a:tcPr>
                </a:tc>
              </a:tr>
              <a:tr h="391885">
                <a:tc>
                  <a:txBody>
                    <a:bodyPr wrap="square"/>
                    <a:lstStyle/>
                    <a:p>
                      <a:pPr algn="ctr"/>
                      <a:r>
                        <a:rPr sz="1100"/>
                        <a:t>요구사항관리</a:t>
                      </a:r>
                    </a:p>
                  </a:txBody>
                  <a:tcPr>
                    <a:solidFill>
                      <a:srgbClr val="F0F5FA"/>
                    </a:solidFill>
                  </a:tcPr>
                </a:tc>
                <a:tc>
                  <a:txBody>
                    <a:bodyPr wrap="square"/>
                    <a:lstStyle/>
                    <a:p>
                      <a:pPr algn="ctr"/>
                      <a:r>
                        <a:rPr sz="1100"/>
                        <a:t>요구사항 체계화, ID 추적, 변경 영향도 분석</a:t>
                      </a:r>
                    </a:p>
                  </a:txBody>
                  <a:tcPr>
                    <a:solidFill>
                      <a:srgbClr val="F0F5FA"/>
                    </a:solidFill>
                  </a:tcPr>
                </a:tc>
              </a:tr>
              <a:tr h="391885">
                <a:tc>
                  <a:txBody>
                    <a:bodyPr wrap="square"/>
                    <a:lstStyle/>
                    <a:p>
                      <a:pPr algn="ctr"/>
                      <a:r>
                        <a:rPr sz="1100"/>
                        <a:t>공정관리</a:t>
                      </a:r>
                    </a:p>
                  </a:txBody>
                  <a:tcPr>
                    <a:solidFill>
                      <a:srgbClr val="F0F5FA"/>
                    </a:solidFill>
                  </a:tcPr>
                </a:tc>
                <a:tc>
                  <a:txBody>
                    <a:bodyPr wrap="square"/>
                    <a:lstStyle/>
                    <a:p>
                      <a:pPr algn="ctr"/>
                      <a:r>
                        <a:rPr sz="1100"/>
                        <a:t>Jira Task 기반 공정률 산정, 보고서 자동 생성</a:t>
                      </a:r>
                    </a:p>
                  </a:txBody>
                  <a:tcPr>
                    <a:solidFill>
                      <a:srgbClr val="F0F5FA"/>
                    </a:solidFill>
                  </a:tcPr>
                </a:tc>
              </a:tr>
              <a:tr h="391885">
                <a:tc>
                  <a:txBody>
                    <a:bodyPr wrap="square"/>
                    <a:lstStyle/>
                    <a:p>
                      <a:pPr algn="ctr"/>
                      <a:r>
                        <a:rPr sz="1100"/>
                        <a:t>개발관리</a:t>
                      </a:r>
                    </a:p>
                  </a:txBody>
                  <a:tcPr>
                    <a:solidFill>
                      <a:srgbClr val="F0F5FA"/>
                    </a:solidFill>
                  </a:tcPr>
                </a:tc>
                <a:tc>
                  <a:txBody>
                    <a:bodyPr wrap="square"/>
                    <a:lstStyle/>
                    <a:p>
                      <a:pPr algn="ctr"/>
                      <a:r>
                        <a:rPr sz="1100"/>
                        <a:t>Spec 기반 구현 계획, TDD, 코드 생성</a:t>
                      </a:r>
                    </a:p>
                  </a:txBody>
                  <a:tcPr>
                    <a:solidFill>
                      <a:srgbClr val="F0F5FA"/>
                    </a:solidFill>
                  </a:tcPr>
                </a:tc>
              </a:tr>
              <a:tr h="391885">
                <a:tc>
                  <a:txBody>
                    <a:bodyPr wrap="square"/>
                    <a:lstStyle/>
                    <a:p>
                      <a:pPr algn="ctr"/>
                      <a:r>
                        <a:rPr sz="1100"/>
                        <a:t>테스트관리</a:t>
                      </a:r>
                    </a:p>
                  </a:txBody>
                  <a:tcPr>
                    <a:solidFill>
                      <a:srgbClr val="F0F5FA"/>
                    </a:solidFill>
                  </a:tcPr>
                </a:tc>
                <a:tc>
                  <a:txBody>
                    <a:bodyPr wrap="square"/>
                    <a:lstStyle/>
                    <a:p>
                      <a:pPr algn="ctr"/>
                      <a:r>
                        <a:rPr sz="1100"/>
                        <a:t>테스트케이스 생성, 테스트 누락 점검</a:t>
                      </a:r>
                    </a:p>
                  </a:txBody>
                  <a:tcPr>
                    <a:solidFill>
                      <a:srgbClr val="F0F5FA"/>
                    </a:solidFill>
                  </a:tcPr>
                </a:tc>
              </a:tr>
              <a:tr h="391885">
                <a:tc>
                  <a:txBody>
                    <a:bodyPr wrap="square"/>
                    <a:lstStyle/>
                    <a:p>
                      <a:pPr algn="ctr"/>
                      <a:r>
                        <a:rPr sz="1100"/>
                        <a:t>감리대응</a:t>
                      </a:r>
                    </a:p>
                  </a:txBody>
                  <a:tcPr>
                    <a:solidFill>
                      <a:srgbClr val="F0F5FA"/>
                    </a:solidFill>
                  </a:tcPr>
                </a:tc>
                <a:tc>
                  <a:txBody>
                    <a:bodyPr wrap="square"/>
                    <a:lstStyle/>
                    <a:p>
                      <a:pPr algn="ctr"/>
                      <a:r>
                        <a:rPr sz="1100"/>
                        <a:t>요구사항 추적표, 산출물 현황, 보완사항 정리</a:t>
                      </a:r>
                    </a:p>
                  </a:txBody>
                  <a:tcPr>
                    <a:solidFill>
                      <a:srgbClr val="F0F5FA"/>
                    </a:solidFill>
                  </a:tcPr>
                </a:tc>
              </a:tr>
              <a:tr h="391890">
                <a:tc>
                  <a:txBody>
                    <a:bodyPr wrap="square"/>
                    <a:lstStyle/>
                    <a:p>
                      <a:pPr algn="ctr"/>
                      <a:r>
                        <a:rPr sz="1100"/>
                        <a:t>운영관리</a:t>
                      </a:r>
                    </a:p>
                  </a:txBody>
                  <a:tcPr>
                    <a:solidFill>
                      <a:srgbClr val="F0F5FA"/>
                    </a:solidFill>
                  </a:tcPr>
                </a:tc>
                <a:tc>
                  <a:txBody>
                    <a:bodyPr wrap="square"/>
                    <a:lstStyle/>
                    <a:p>
                      <a:pPr algn="ctr"/>
                      <a:r>
                        <a:rPr sz="1100"/>
                        <a:t>이슈 요약, 장애보고서, FAQ, 조치 이력 지식화</a:t>
                      </a:r>
                    </a:p>
                  </a:txBody>
                  <a:tcPr>
                    <a:solidFill>
                      <a:srgbClr val="F0F5FA"/>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2163BB"/>
                </a:solidFill>
              </a:defRPr>
            </a:pPr>
            <a:r>
              <a:t>6. 목표 시스템 구성</a:t>
            </a:r>
          </a:p>
        </p:txBody>
      </p:sp>
      <p:sp>
        <p:nvSpPr>
          <p:cNvPr id="3" name="TextBox 2"/>
          <p:cNvSpPr txBox="1"/>
          <p:nvPr/>
        </p:nvSpPr>
        <p:spPr>
          <a:xfrm>
            <a:off x="457200" y="1143000"/>
            <a:ext cx="11277295" cy="457200"/>
          </a:xfrm>
          <a:prstGeom prst="rect">
            <a:avLst/>
          </a:prstGeom>
          <a:noFill/>
        </p:spPr>
        <p:txBody>
          <a:bodyPr wrap="square">
            <a:spAutoFit/>
          </a:bodyPr>
          <a:lstStyle/>
          <a:p>
            <a:pPr>
              <a:defRPr sz="1400">
                <a:solidFill>
                  <a:srgbClr val="333333"/>
                </a:solidFill>
              </a:defRPr>
            </a:pPr>
            <a:r>
              <a:t>권장 도구 구성은 다음과 같다.</a:t>
            </a:r>
          </a:p>
        </p:txBody>
      </p:sp>
      <p:sp>
        <p:nvSpPr>
          <p:cNvPr id="4" name="TextBox 3"/>
          <p:cNvSpPr txBox="1"/>
          <p:nvPr/>
        </p:nvSpPr>
        <p:spPr>
          <a:xfrm>
            <a:off x="457200" y="1600200"/>
            <a:ext cx="11277295" cy="457200"/>
          </a:xfrm>
          <a:prstGeom prst="rect">
            <a:avLst/>
          </a:prstGeom>
          <a:noFill/>
        </p:spPr>
        <p:txBody>
          <a:bodyPr wrap="square">
            <a:spAutoFit/>
          </a:bodyPr>
          <a:lstStyle/>
          <a:p>
            <a:pPr>
              <a:defRPr sz="1400">
                <a:solidFill>
                  <a:srgbClr val="333333"/>
                </a:solidFill>
              </a:defRPr>
            </a:pPr>
            <a:r>
              <a:t>Jira</a:t>
            </a:r>
          </a:p>
        </p:txBody>
      </p:sp>
      <p:sp>
        <p:nvSpPr>
          <p:cNvPr id="5" name="TextBox 4"/>
          <p:cNvSpPr txBox="1"/>
          <p:nvPr/>
        </p:nvSpPr>
        <p:spPr>
          <a:xfrm>
            <a:off x="457200" y="2057400"/>
            <a:ext cx="11277295" cy="457200"/>
          </a:xfrm>
          <a:prstGeom prst="rect">
            <a:avLst/>
          </a:prstGeom>
          <a:noFill/>
        </p:spPr>
        <p:txBody>
          <a:bodyPr wrap="square">
            <a:spAutoFit/>
          </a:bodyPr>
          <a:lstStyle/>
          <a:p>
            <a:pPr>
              <a:defRPr sz="1400">
                <a:solidFill>
                  <a:srgbClr val="333333"/>
                </a:solidFill>
              </a:defRPr>
            </a:pPr>
            <a:r>
              <a:t>= 요구사항, Task, 이슈, 공정, 결함, 변경요청 관리</a:t>
            </a:r>
          </a:p>
        </p:txBody>
      </p:sp>
      <p:sp>
        <p:nvSpPr>
          <p:cNvPr id="6" name="TextBox 5"/>
          <p:cNvSpPr txBox="1"/>
          <p:nvPr/>
        </p:nvSpPr>
        <p:spPr>
          <a:xfrm>
            <a:off x="457200" y="2514600"/>
            <a:ext cx="11277295" cy="457200"/>
          </a:xfrm>
          <a:prstGeom prst="rect">
            <a:avLst/>
          </a:prstGeom>
          <a:noFill/>
        </p:spPr>
        <p:txBody>
          <a:bodyPr wrap="square">
            <a:spAutoFit/>
          </a:bodyPr>
          <a:lstStyle/>
          <a:p>
            <a:pPr>
              <a:defRPr sz="1400">
                <a:solidFill>
                  <a:srgbClr val="333333"/>
                </a:solidFill>
              </a:defRPr>
            </a:pPr>
            <a:r>
              <a:t>Confluence</a:t>
            </a:r>
          </a:p>
        </p:txBody>
      </p:sp>
      <p:sp>
        <p:nvSpPr>
          <p:cNvPr id="7" name="TextBox 6"/>
          <p:cNvSpPr txBox="1"/>
          <p:nvPr/>
        </p:nvSpPr>
        <p:spPr>
          <a:xfrm>
            <a:off x="457200" y="2971800"/>
            <a:ext cx="11277295" cy="457200"/>
          </a:xfrm>
          <a:prstGeom prst="rect">
            <a:avLst/>
          </a:prstGeom>
          <a:noFill/>
        </p:spPr>
        <p:txBody>
          <a:bodyPr wrap="square">
            <a:spAutoFit/>
          </a:bodyPr>
          <a:lstStyle/>
          <a:p>
            <a:pPr>
              <a:defRPr sz="1400">
                <a:solidFill>
                  <a:srgbClr val="333333"/>
                </a:solidFill>
              </a:defRPr>
            </a:pPr>
            <a:r>
              <a:t>= 산출물, 회의록, 보고서, AI Context, 지식문서 관리</a:t>
            </a:r>
          </a:p>
        </p:txBody>
      </p:sp>
      <p:sp>
        <p:nvSpPr>
          <p:cNvPr id="8" name="TextBox 7"/>
          <p:cNvSpPr txBox="1"/>
          <p:nvPr/>
        </p:nvSpPr>
        <p:spPr>
          <a:xfrm>
            <a:off x="457200" y="3429000"/>
            <a:ext cx="11277295" cy="457200"/>
          </a:xfrm>
          <a:prstGeom prst="rect">
            <a:avLst/>
          </a:prstGeom>
          <a:noFill/>
        </p:spPr>
        <p:txBody>
          <a:bodyPr wrap="square">
            <a:spAutoFit/>
          </a:bodyPr>
          <a:lstStyle/>
          <a:p>
            <a:pPr>
              <a:defRPr sz="1400">
                <a:solidFill>
                  <a:srgbClr val="333333"/>
                </a:solidFill>
              </a:defRPr>
            </a:pPr>
            <a:r>
              <a:t>Slack</a:t>
            </a:r>
          </a:p>
        </p:txBody>
      </p:sp>
      <p:sp>
        <p:nvSpPr>
          <p:cNvPr id="9" name="TextBox 8"/>
          <p:cNvSpPr txBox="1"/>
          <p:nvPr/>
        </p:nvSpPr>
        <p:spPr>
          <a:xfrm>
            <a:off x="457200" y="3886200"/>
            <a:ext cx="11277295" cy="457200"/>
          </a:xfrm>
          <a:prstGeom prst="rect">
            <a:avLst/>
          </a:prstGeom>
          <a:noFill/>
        </p:spPr>
        <p:txBody>
          <a:bodyPr wrap="square">
            <a:spAutoFit/>
          </a:bodyPr>
          <a:lstStyle/>
          <a:p>
            <a:pPr>
              <a:defRPr sz="1400">
                <a:solidFill>
                  <a:srgbClr val="333333"/>
                </a:solidFill>
              </a:defRPr>
            </a:pPr>
            <a:r>
              <a:t>= 실시간 알림, 요청, 검토, 승인, 장애 공유</a:t>
            </a:r>
          </a:p>
        </p:txBody>
      </p:sp>
      <p:sp>
        <p:nvSpPr>
          <p:cNvPr id="10" name="TextBox 9"/>
          <p:cNvSpPr txBox="1"/>
          <p:nvPr/>
        </p:nvSpPr>
        <p:spPr>
          <a:xfrm>
            <a:off x="457200" y="4343400"/>
            <a:ext cx="11277295" cy="457200"/>
          </a:xfrm>
          <a:prstGeom prst="rect">
            <a:avLst/>
          </a:prstGeom>
          <a:noFill/>
        </p:spPr>
        <p:txBody>
          <a:bodyPr wrap="square">
            <a:spAutoFit/>
          </a:bodyPr>
          <a:lstStyle/>
          <a:p>
            <a:pPr>
              <a:defRPr sz="1400">
                <a:solidFill>
                  <a:srgbClr val="333333"/>
                </a:solidFill>
              </a:defRPr>
            </a:pPr>
            <a:r>
              <a:t>Claude</a:t>
            </a:r>
          </a:p>
        </p:txBody>
      </p:sp>
      <p:sp>
        <p:nvSpPr>
          <p:cNvPr id="11" name="TextBox 10"/>
          <p:cNvSpPr txBox="1"/>
          <p:nvPr/>
        </p:nvSpPr>
        <p:spPr>
          <a:xfrm>
            <a:off x="457200" y="4800600"/>
            <a:ext cx="11277295" cy="457200"/>
          </a:xfrm>
          <a:prstGeom prst="rect">
            <a:avLst/>
          </a:prstGeom>
          <a:noFill/>
        </p:spPr>
        <p:txBody>
          <a:bodyPr wrap="square">
            <a:spAutoFit/>
          </a:bodyPr>
          <a:lstStyle/>
          <a:p>
            <a:pPr>
              <a:defRPr sz="1400">
                <a:solidFill>
                  <a:srgbClr val="333333"/>
                </a:solidFill>
              </a:defRPr>
            </a:pPr>
            <a:r>
              <a:t>= 요구사항 분석, 문서 검토, Spec/Plan/Task/TDD 생성</a:t>
            </a:r>
          </a:p>
        </p:txBody>
      </p:sp>
      <p:sp>
        <p:nvSpPr>
          <p:cNvPr id="12" name="TextBox 11"/>
          <p:cNvSpPr txBox="1"/>
          <p:nvPr/>
        </p:nvSpPr>
        <p:spPr>
          <a:xfrm>
            <a:off x="457200" y="5257800"/>
            <a:ext cx="11277295" cy="457200"/>
          </a:xfrm>
          <a:prstGeom prst="rect">
            <a:avLst/>
          </a:prstGeom>
          <a:noFill/>
        </p:spPr>
        <p:txBody>
          <a:bodyPr wrap="square">
            <a:spAutoFit/>
          </a:bodyPr>
          <a:lstStyle/>
          <a:p>
            <a:pPr>
              <a:defRPr sz="1400">
                <a:solidFill>
                  <a:srgbClr val="333333"/>
                </a:solidFill>
              </a:defRPr>
            </a:pPr>
            <a:r>
              <a:t>AI CLI Tool</a:t>
            </a:r>
          </a:p>
        </p:txBody>
      </p:sp>
      <p:sp>
        <p:nvSpPr>
          <p:cNvPr id="13" name="TextBox 12"/>
          <p:cNvSpPr txBox="1"/>
          <p:nvPr/>
        </p:nvSpPr>
        <p:spPr>
          <a:xfrm>
            <a:off x="457200" y="5715000"/>
            <a:ext cx="11277295" cy="457200"/>
          </a:xfrm>
          <a:prstGeom prst="rect">
            <a:avLst/>
          </a:prstGeom>
          <a:noFill/>
        </p:spPr>
        <p:txBody>
          <a:bodyPr wrap="square">
            <a:spAutoFit/>
          </a:bodyPr>
          <a:lstStyle/>
          <a:p>
            <a:pPr>
              <a:defRPr sz="1400">
                <a:solidFill>
                  <a:srgbClr val="333333"/>
                </a:solidFill>
              </a:defRPr>
            </a:pPr>
            <a:r>
              <a:t>= Claude Code, Spec Kit, Hermes Agent 등 자동화 실행</a:t>
            </a:r>
          </a:p>
        </p:txBody>
      </p:sp>
      <p:sp>
        <p:nvSpPr>
          <p:cNvPr id="14" name="TextBox 13"/>
          <p:cNvSpPr txBox="1"/>
          <p:nvPr/>
        </p:nvSpPr>
        <p:spPr>
          <a:xfrm>
            <a:off x="457200" y="6172200"/>
            <a:ext cx="11277295" cy="457200"/>
          </a:xfrm>
          <a:prstGeom prst="rect">
            <a:avLst/>
          </a:prstGeom>
          <a:noFill/>
        </p:spPr>
        <p:txBody>
          <a:bodyPr wrap="square">
            <a:spAutoFit/>
          </a:bodyPr>
          <a:lstStyle/>
          <a:p>
            <a:pPr>
              <a:defRPr sz="1400">
                <a:solidFill>
                  <a:srgbClr val="333333"/>
                </a:solidFill>
              </a:defRPr>
            </a:pPr>
            <a:r>
              <a:t>Git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2163BB"/>
                </a:solidFill>
              </a:defRPr>
            </a:pPr>
            <a:r>
              <a:t>7. 추진 과제</a:t>
            </a:r>
          </a:p>
        </p:txBody>
      </p:sp>
      <p:sp>
        <p:nvSpPr>
          <p:cNvPr id="3" name="TextBox 2"/>
          <p:cNvSpPr txBox="1"/>
          <p:nvPr/>
        </p:nvSpPr>
        <p:spPr>
          <a:xfrm>
            <a:off x="457200" y="1143000"/>
            <a:ext cx="11277295" cy="548640"/>
          </a:xfrm>
          <a:prstGeom prst="rect">
            <a:avLst/>
          </a:prstGeom>
          <a:noFill/>
        </p:spPr>
        <p:txBody>
          <a:bodyPr wrap="none">
            <a:spAutoFit/>
          </a:bodyPr>
          <a:lstStyle/>
          <a:p>
            <a:pPr>
              <a:defRPr sz="1800" b="1">
                <a:solidFill>
                  <a:srgbClr val="2163BB"/>
                </a:solidFill>
              </a:defRPr>
            </a:pPr>
            <a:r>
              <a:t>7.1 문서관리 자동화</a:t>
            </a:r>
          </a:p>
        </p:txBody>
      </p:sp>
      <p:graphicFrame>
        <p:nvGraphicFramePr>
          <p:cNvPr id="4" name="Table 3"/>
          <p:cNvGraphicFramePr>
            <a:graphicFrameLocks noGrp="1"/>
          </p:cNvGraphicFramePr>
          <p:nvPr/>
        </p:nvGraphicFramePr>
        <p:xfrm>
          <a:off x="457200" y="1737360"/>
          <a:ext cx="11277294" cy="2743200"/>
        </p:xfrm>
        <a:graphic>
          <a:graphicData uri="http://schemas.openxmlformats.org/drawingml/2006/table">
            <a:tbl>
              <a:tblPr firstRow="1" bandRow="1">
                <a:tableStyleId>{5C22544A-7EE6-4342-B048-85BDC9FD1C3A}</a:tableStyleId>
              </a:tblPr>
              <a:tblGrid>
                <a:gridCol w="5638647"/>
                <a:gridCol w="5638647"/>
              </a:tblGrid>
              <a:tr h="2743200">
                <a:tc>
                  <a:txBody>
                    <a:bodyPr wrap="square"/>
                    <a:lstStyle/>
                    <a:p>
                      <a:pPr algn="ctr"/>
                      <a:r>
                        <a:rPr sz="1100" b="1">
                          <a:solidFill>
                            <a:srgbClr val="FFFFFF"/>
                          </a:solidFill>
                        </a:rPr>
                        <a:t>과제</a:t>
                      </a:r>
                    </a:p>
                  </a:txBody>
                  <a:tcPr>
                    <a:solidFill>
                      <a:srgbClr val="2163BB"/>
                    </a:solidFill>
                  </a:tcPr>
                </a:tc>
                <a:tc>
                  <a:txBody>
                    <a:bodyPr wrap="square"/>
                    <a:lstStyle/>
                    <a:p>
                      <a:pPr algn="ctr"/>
                      <a:r>
                        <a:rPr sz="1100" b="1">
                          <a:solidFill>
                            <a:srgbClr val="FFFFFF"/>
                          </a:solidFill>
                        </a:rPr>
                        <a:t>내용</a:t>
                      </a:r>
                    </a:p>
                  </a:txBody>
                  <a:tcPr>
                    <a:solidFill>
                      <a:srgbClr val="2163BB"/>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graphicFrame>
        <p:nvGraphicFramePr>
          <p:cNvPr id="2" name="Table 1"/>
          <p:cNvGraphicFramePr>
            <a:graphicFrameLocks noGrp="1"/>
          </p:cNvGraphicFramePr>
          <p:nvPr/>
        </p:nvGraphicFramePr>
        <p:xfrm>
          <a:off x="457200" y="365760"/>
          <a:ext cx="11277294" cy="2743200"/>
        </p:xfrm>
        <a:graphic>
          <a:graphicData uri="http://schemas.openxmlformats.org/drawingml/2006/table">
            <a:tbl>
              <a:tblPr firstRow="1" bandRow="1">
                <a:tableStyleId>{5C22544A-7EE6-4342-B048-85BDC9FD1C3A}</a:tableStyleId>
              </a:tblPr>
              <a:tblGrid>
                <a:gridCol w="5638647"/>
                <a:gridCol w="5638647"/>
              </a:tblGrid>
              <a:tr h="548640">
                <a:tc>
                  <a:txBody>
                    <a:bodyPr wrap="square"/>
                    <a:lstStyle/>
                    <a:p>
                      <a:pPr algn="ctr"/>
                      <a:r>
                        <a:rPr sz="1100" b="1">
                          <a:solidFill>
                            <a:srgbClr val="FFFFFF"/>
                          </a:solidFill>
                        </a:rPr>
                        <a:t>정부기관 표준 템플릿 등록</a:t>
                      </a:r>
                    </a:p>
                  </a:txBody>
                  <a:tcPr>
                    <a:solidFill>
                      <a:srgbClr val="2163BB"/>
                    </a:solidFill>
                  </a:tcPr>
                </a:tc>
                <a:tc>
                  <a:txBody>
                    <a:bodyPr wrap="square"/>
                    <a:lstStyle/>
                    <a:p>
                      <a:pPr algn="ctr"/>
                      <a:r>
                        <a:rPr sz="1100" b="1">
                          <a:solidFill>
                            <a:srgbClr val="FFFFFF"/>
                          </a:solidFill>
                        </a:rPr>
                        <a:t>Confluence에 요구사항, 설계, 테스트, 보고 템플릿 등록</a:t>
                      </a:r>
                    </a:p>
                  </a:txBody>
                  <a:tcPr>
                    <a:solidFill>
                      <a:srgbClr val="2163BB"/>
                    </a:solidFill>
                  </a:tcPr>
                </a:tc>
              </a:tr>
              <a:tr h="548640">
                <a:tc>
                  <a:txBody>
                    <a:bodyPr wrap="square"/>
                    <a:lstStyle/>
                    <a:p>
                      <a:pPr algn="ctr"/>
                      <a:r>
                        <a:rPr sz="1100"/>
                        <a:t>문서 작성 현황 취합</a:t>
                      </a:r>
                    </a:p>
                  </a:txBody>
                  <a:tcPr>
                    <a:solidFill>
                      <a:srgbClr val="F0F5FA"/>
                    </a:solidFill>
                  </a:tcPr>
                </a:tc>
                <a:tc>
                  <a:txBody>
                    <a:bodyPr wrap="square"/>
                    <a:lstStyle/>
                    <a:p>
                      <a:pPr algn="ctr"/>
                      <a:r>
                        <a:rPr sz="1100"/>
                        <a:t>Page Properties 기반 산출물 현황 자동 취합</a:t>
                      </a:r>
                    </a:p>
                  </a:txBody>
                  <a:tcPr>
                    <a:solidFill>
                      <a:srgbClr val="F0F5FA"/>
                    </a:solidFill>
                  </a:tcPr>
                </a:tc>
              </a:tr>
              <a:tr h="548640">
                <a:tc>
                  <a:txBody>
                    <a:bodyPr wrap="square"/>
                    <a:lstStyle/>
                    <a:p>
                      <a:pPr algn="ctr"/>
                      <a:r>
                        <a:rPr sz="1100"/>
                        <a:t>문서 품질 검토</a:t>
                      </a:r>
                    </a:p>
                  </a:txBody>
                  <a:tcPr>
                    <a:solidFill>
                      <a:srgbClr val="F0F5FA"/>
                    </a:solidFill>
                  </a:tcPr>
                </a:tc>
                <a:tc>
                  <a:txBody>
                    <a:bodyPr wrap="square"/>
                    <a:lstStyle/>
                    <a:p>
                      <a:pPr algn="ctr"/>
                      <a:r>
                        <a:rPr sz="1100"/>
                        <a:t>Claude가 누락, 불일치, 모호성 검토</a:t>
                      </a:r>
                    </a:p>
                  </a:txBody>
                  <a:tcPr>
                    <a:solidFill>
                      <a:srgbClr val="F0F5FA"/>
                    </a:solidFill>
                  </a:tcPr>
                </a:tc>
              </a:tr>
              <a:tr h="548640">
                <a:tc>
                  <a:txBody>
                    <a:bodyPr wrap="square"/>
                    <a:lstStyle/>
                    <a:p>
                      <a:pPr algn="ctr"/>
                      <a:r>
                        <a:rPr sz="1100"/>
                        <a:t>최종본 관리</a:t>
                      </a:r>
                    </a:p>
                  </a:txBody>
                  <a:tcPr>
                    <a:solidFill>
                      <a:srgbClr val="F0F5FA"/>
                    </a:solidFill>
                  </a:tcPr>
                </a:tc>
                <a:tc>
                  <a:txBody>
                    <a:bodyPr wrap="square"/>
                    <a:lstStyle/>
                    <a:p>
                      <a:pPr algn="ctr"/>
                      <a:r>
                        <a:rPr sz="1100"/>
                        <a:t>승인 완료 문서 기준선 등록</a:t>
                      </a:r>
                    </a:p>
                  </a:txBody>
                  <a:tcPr>
                    <a:solidFill>
                      <a:srgbClr val="F0F5FA"/>
                    </a:solidFill>
                  </a:tcPr>
                </a:tc>
              </a:tr>
              <a:tr h="548640">
                <a:tc>
                  <a:txBody>
                    <a:bodyPr wrap="square"/>
                    <a:lstStyle/>
                    <a:p>
                      <a:pPr algn="ctr"/>
                      <a:r>
                        <a:rPr sz="1100"/>
                        <a:t>AI Context 관리</a:t>
                      </a:r>
                    </a:p>
                  </a:txBody>
                  <a:tcPr>
                    <a:solidFill>
                      <a:srgbClr val="F0F5FA"/>
                    </a:solidFill>
                  </a:tcPr>
                </a:tc>
                <a:tc>
                  <a:txBody>
                    <a:bodyPr wrap="square"/>
                    <a:lstStyle/>
                    <a:p>
                      <a:pPr algn="ctr"/>
                      <a:r>
                        <a:rPr sz="1100"/>
                        <a:t>Claude 입력용 Markdown 문서 자동 생성</a:t>
                      </a:r>
                    </a:p>
                  </a:txBody>
                  <a:tcPr>
                    <a:solidFill>
                      <a:srgbClr val="F0F5FA"/>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548640"/>
          </a:xfrm>
          <a:prstGeom prst="rect">
            <a:avLst/>
          </a:prstGeom>
          <a:noFill/>
        </p:spPr>
        <p:txBody>
          <a:bodyPr wrap="none">
            <a:spAutoFit/>
          </a:bodyPr>
          <a:lstStyle/>
          <a:p>
            <a:pPr>
              <a:defRPr sz="1800" b="1">
                <a:solidFill>
                  <a:srgbClr val="2163BB"/>
                </a:solidFill>
              </a:defRPr>
            </a:pPr>
            <a:r>
              <a:t>7.2 요구사항 추적관리 자동화</a:t>
            </a:r>
          </a:p>
        </p:txBody>
      </p:sp>
      <p:graphicFrame>
        <p:nvGraphicFramePr>
          <p:cNvPr id="3" name="Table 2"/>
          <p:cNvGraphicFramePr>
            <a:graphicFrameLocks noGrp="1"/>
          </p:cNvGraphicFramePr>
          <p:nvPr/>
        </p:nvGraphicFramePr>
        <p:xfrm>
          <a:off x="457200" y="960120"/>
          <a:ext cx="11277294" cy="2743200"/>
        </p:xfrm>
        <a:graphic>
          <a:graphicData uri="http://schemas.openxmlformats.org/drawingml/2006/table">
            <a:tbl>
              <a:tblPr firstRow="1" bandRow="1">
                <a:tableStyleId>{5C22544A-7EE6-4342-B048-85BDC9FD1C3A}</a:tableStyleId>
              </a:tblPr>
              <a:tblGrid>
                <a:gridCol w="5638647"/>
                <a:gridCol w="5638647"/>
              </a:tblGrid>
              <a:tr h="2743200">
                <a:tc>
                  <a:txBody>
                    <a:bodyPr wrap="square"/>
                    <a:lstStyle/>
                    <a:p>
                      <a:pPr algn="ctr"/>
                      <a:r>
                        <a:rPr sz="1100" b="1">
                          <a:solidFill>
                            <a:srgbClr val="FFFFFF"/>
                          </a:solidFill>
                        </a:rPr>
                        <a:t>과제</a:t>
                      </a:r>
                    </a:p>
                  </a:txBody>
                  <a:tcPr>
                    <a:solidFill>
                      <a:srgbClr val="2163BB"/>
                    </a:solidFill>
                  </a:tcPr>
                </a:tc>
                <a:tc>
                  <a:txBody>
                    <a:bodyPr wrap="square"/>
                    <a:lstStyle/>
                    <a:p>
                      <a:pPr algn="ctr"/>
                      <a:r>
                        <a:rPr sz="1100" b="1">
                          <a:solidFill>
                            <a:srgbClr val="FFFFFF"/>
                          </a:solidFill>
                        </a:rPr>
                        <a:t>내용</a:t>
                      </a:r>
                    </a:p>
                  </a:txBody>
                  <a:tcPr>
                    <a:solidFill>
                      <a:srgbClr val="2163BB"/>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graphicFrame>
        <p:nvGraphicFramePr>
          <p:cNvPr id="3" name="Table 2"/>
          <p:cNvGraphicFramePr>
            <a:graphicFrameLocks noGrp="1"/>
          </p:cNvGraphicFramePr>
          <p:nvPr/>
        </p:nvGraphicFramePr>
        <p:xfrm>
          <a:off x="457200" y="822960"/>
          <a:ext cx="11277294" cy="2743200"/>
        </p:xfrm>
        <a:graphic>
          <a:graphicData uri="http://schemas.openxmlformats.org/drawingml/2006/table">
            <a:tbl>
              <a:tblPr firstRow="1" bandRow="1">
                <a:tableStyleId>{5C22544A-7EE6-4342-B048-85BDC9FD1C3A}</a:tableStyleId>
              </a:tblPr>
              <a:tblGrid>
                <a:gridCol w="5638647"/>
                <a:gridCol w="5638647"/>
              </a:tblGrid>
              <a:tr h="548640">
                <a:tc>
                  <a:txBody>
                    <a:bodyPr wrap="square"/>
                    <a:lstStyle/>
                    <a:p>
                      <a:pPr algn="ctr"/>
                      <a:r>
                        <a:rPr sz="1100" b="1">
                          <a:solidFill>
                            <a:srgbClr val="FFFFFF"/>
                          </a:solidFill>
                        </a:rPr>
                        <a:t>요구사항 ID 표준화</a:t>
                      </a:r>
                    </a:p>
                  </a:txBody>
                  <a:tcPr>
                    <a:solidFill>
                      <a:srgbClr val="2163BB"/>
                    </a:solidFill>
                  </a:tcPr>
                </a:tc>
                <a:tc>
                  <a:txBody>
                    <a:bodyPr wrap="square"/>
                    <a:lstStyle/>
                    <a:p>
                      <a:pPr algn="ctr"/>
                      <a:r>
                        <a:rPr sz="1100" b="1">
                          <a:solidFill>
                            <a:srgbClr val="FFFFFF"/>
                          </a:solidFill>
                        </a:rPr>
                        <a:t>기능, 비기능, 보안, 연계, 데이터 요구사항 ID 부여</a:t>
                      </a:r>
                    </a:p>
                  </a:txBody>
                  <a:tcPr>
                    <a:solidFill>
                      <a:srgbClr val="2163BB"/>
                    </a:solidFill>
                  </a:tcPr>
                </a:tc>
              </a:tr>
              <a:tr h="548640">
                <a:tc>
                  <a:txBody>
                    <a:bodyPr wrap="square"/>
                    <a:lstStyle/>
                    <a:p>
                      <a:pPr algn="ctr"/>
                      <a:r>
                        <a:rPr sz="1100"/>
                        <a:t>산출물 간 연결</a:t>
                      </a:r>
                    </a:p>
                  </a:txBody>
                  <a:tcPr>
                    <a:solidFill>
                      <a:srgbClr val="F0F5FA"/>
                    </a:solidFill>
                  </a:tcPr>
                </a:tc>
                <a:tc>
                  <a:txBody>
                    <a:bodyPr wrap="square"/>
                    <a:lstStyle/>
                    <a:p>
                      <a:pPr algn="ctr"/>
                      <a:r>
                        <a:rPr sz="1100"/>
                        <a:t>요구사항-유스케이스-화면-API-테스트 연결</a:t>
                      </a:r>
                    </a:p>
                  </a:txBody>
                  <a:tcPr>
                    <a:solidFill>
                      <a:srgbClr val="F0F5FA"/>
                    </a:solidFill>
                  </a:tcPr>
                </a:tc>
              </a:tr>
              <a:tr h="548640">
                <a:tc>
                  <a:txBody>
                    <a:bodyPr wrap="square"/>
                    <a:lstStyle/>
                    <a:p>
                      <a:pPr algn="ctr"/>
                      <a:r>
                        <a:rPr sz="1100"/>
                        <a:t>누락 항목 탐지</a:t>
                      </a:r>
                    </a:p>
                  </a:txBody>
                  <a:tcPr>
                    <a:solidFill>
                      <a:srgbClr val="F0F5FA"/>
                    </a:solidFill>
                  </a:tcPr>
                </a:tc>
                <a:tc>
                  <a:txBody>
                    <a:bodyPr wrap="square"/>
                    <a:lstStyle/>
                    <a:p>
                      <a:pPr algn="ctr"/>
                      <a:r>
                        <a:rPr sz="1100"/>
                        <a:t>Claude가 문서 간 누락/불일치 점검</a:t>
                      </a:r>
                    </a:p>
                  </a:txBody>
                  <a:tcPr>
                    <a:solidFill>
                      <a:srgbClr val="F0F5FA"/>
                    </a:solidFill>
                  </a:tcPr>
                </a:tc>
              </a:tr>
              <a:tr h="548640">
                <a:tc>
                  <a:txBody>
                    <a:bodyPr wrap="square"/>
                    <a:lstStyle/>
                    <a:p>
                      <a:pPr algn="ctr"/>
                      <a:r>
                        <a:rPr sz="1100"/>
                        <a:t>기존 문서 자동 업데이트</a:t>
                      </a:r>
                    </a:p>
                  </a:txBody>
                  <a:tcPr>
                    <a:solidFill>
                      <a:srgbClr val="F0F5FA"/>
                    </a:solidFill>
                  </a:tcPr>
                </a:tc>
                <a:tc>
                  <a:txBody>
                    <a:bodyPr wrap="square"/>
                    <a:lstStyle/>
                    <a:p>
                      <a:pPr algn="ctr"/>
                      <a:r>
                        <a:rPr sz="1100"/>
                        <a:t>보완 필요 항목을 Confluence/Jira에 반영</a:t>
                      </a:r>
                    </a:p>
                  </a:txBody>
                  <a:tcPr>
                    <a:solidFill>
                      <a:srgbClr val="F0F5FA"/>
                    </a:solidFill>
                  </a:tcPr>
                </a:tc>
              </a:tr>
              <a:tr h="548640">
                <a:tc>
                  <a:txBody>
                    <a:bodyPr wrap="square"/>
                    <a:lstStyle/>
                    <a:p>
                      <a:pPr algn="ctr"/>
                      <a:r>
                        <a:rPr sz="1100"/>
                        <a:t>감리 대응 자료 생성</a:t>
                      </a:r>
                    </a:p>
                  </a:txBody>
                  <a:tcPr>
                    <a:solidFill>
                      <a:srgbClr val="F0F5FA"/>
                    </a:solidFill>
                  </a:tcPr>
                </a:tc>
                <a:tc>
                  <a:txBody>
                    <a:bodyPr wrap="square"/>
                    <a:lstStyle/>
                    <a:p>
                      <a:pPr algn="ctr"/>
                      <a:r>
                        <a:rPr sz="1100"/>
                        <a:t>요구사항 추적표 자동 생성</a:t>
                      </a:r>
                    </a:p>
                  </a:txBody>
                  <a:tcPr>
                    <a:solidFill>
                      <a:srgbClr val="F0F5FA"/>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548640"/>
          </a:xfrm>
          <a:prstGeom prst="rect">
            <a:avLst/>
          </a:prstGeom>
          <a:noFill/>
        </p:spPr>
        <p:txBody>
          <a:bodyPr wrap="none">
            <a:spAutoFit/>
          </a:bodyPr>
          <a:lstStyle/>
          <a:p>
            <a:pPr>
              <a:defRPr sz="1800" b="1">
                <a:solidFill>
                  <a:srgbClr val="2163BB"/>
                </a:solidFill>
              </a:defRPr>
            </a:pPr>
            <a:r>
              <a:t>7.3 공정관리 자동화</a:t>
            </a:r>
          </a:p>
        </p:txBody>
      </p:sp>
      <p:graphicFrame>
        <p:nvGraphicFramePr>
          <p:cNvPr id="3" name="Table 2"/>
          <p:cNvGraphicFramePr>
            <a:graphicFrameLocks noGrp="1"/>
          </p:cNvGraphicFramePr>
          <p:nvPr/>
        </p:nvGraphicFramePr>
        <p:xfrm>
          <a:off x="457200" y="960120"/>
          <a:ext cx="11277294" cy="2743200"/>
        </p:xfrm>
        <a:graphic>
          <a:graphicData uri="http://schemas.openxmlformats.org/drawingml/2006/table">
            <a:tbl>
              <a:tblPr firstRow="1" bandRow="1">
                <a:tableStyleId>{5C22544A-7EE6-4342-B048-85BDC9FD1C3A}</a:tableStyleId>
              </a:tblPr>
              <a:tblGrid>
                <a:gridCol w="5638647"/>
                <a:gridCol w="5638647"/>
              </a:tblGrid>
              <a:tr h="2743200">
                <a:tc>
                  <a:txBody>
                    <a:bodyPr wrap="square"/>
                    <a:lstStyle/>
                    <a:p>
                      <a:pPr algn="ctr"/>
                      <a:r>
                        <a:rPr sz="1100" b="1">
                          <a:solidFill>
                            <a:srgbClr val="FFFFFF"/>
                          </a:solidFill>
                        </a:rPr>
                        <a:t>과제</a:t>
                      </a:r>
                    </a:p>
                  </a:txBody>
                  <a:tcPr>
                    <a:solidFill>
                      <a:srgbClr val="2163BB"/>
                    </a:solidFill>
                  </a:tcPr>
                </a:tc>
                <a:tc>
                  <a:txBody>
                    <a:bodyPr wrap="square"/>
                    <a:lstStyle/>
                    <a:p>
                      <a:pPr algn="ctr"/>
                      <a:r>
                        <a:rPr sz="1100" b="1">
                          <a:solidFill>
                            <a:srgbClr val="FFFFFF"/>
                          </a:solidFill>
                        </a:rPr>
                        <a:t>내용</a:t>
                      </a:r>
                    </a:p>
                  </a:txBody>
                  <a:tcPr>
                    <a:solidFill>
                      <a:srgbClr val="2163BB"/>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graphicFrame>
        <p:nvGraphicFramePr>
          <p:cNvPr id="2" name="Table 1"/>
          <p:cNvGraphicFramePr>
            <a:graphicFrameLocks noGrp="1"/>
          </p:cNvGraphicFramePr>
          <p:nvPr/>
        </p:nvGraphicFramePr>
        <p:xfrm>
          <a:off x="457200" y="365760"/>
          <a:ext cx="11277294" cy="2743200"/>
        </p:xfrm>
        <a:graphic>
          <a:graphicData uri="http://schemas.openxmlformats.org/drawingml/2006/table">
            <a:tbl>
              <a:tblPr firstRow="1" bandRow="1">
                <a:tableStyleId>{5C22544A-7EE6-4342-B048-85BDC9FD1C3A}</a:tableStyleId>
              </a:tblPr>
              <a:tblGrid>
                <a:gridCol w="5638647"/>
                <a:gridCol w="5638647"/>
              </a:tblGrid>
              <a:tr h="548640">
                <a:tc>
                  <a:txBody>
                    <a:bodyPr wrap="square"/>
                    <a:lstStyle/>
                    <a:p>
                      <a:pPr algn="ctr"/>
                      <a:r>
                        <a:rPr sz="1100" b="1">
                          <a:solidFill>
                            <a:srgbClr val="FFFFFF"/>
                          </a:solidFill>
                        </a:rPr>
                        <a:t>Jira Task 표준화</a:t>
                      </a:r>
                    </a:p>
                  </a:txBody>
                  <a:tcPr>
                    <a:solidFill>
                      <a:srgbClr val="2163BB"/>
                    </a:solidFill>
                  </a:tcPr>
                </a:tc>
                <a:tc>
                  <a:txBody>
                    <a:bodyPr wrap="square"/>
                    <a:lstStyle/>
                    <a:p>
                      <a:pPr algn="ctr"/>
                      <a:r>
                        <a:rPr sz="1100" b="1">
                          <a:solidFill>
                            <a:srgbClr val="FFFFFF"/>
                          </a:solidFill>
                        </a:rPr>
                        <a:t>요구사항 단위 Task, Sub-task 구조 수립</a:t>
                      </a:r>
                    </a:p>
                  </a:txBody>
                  <a:tcPr>
                    <a:solidFill>
                      <a:srgbClr val="2163BB"/>
                    </a:solidFill>
                  </a:tcPr>
                </a:tc>
              </a:tr>
              <a:tr h="548640">
                <a:tc>
                  <a:txBody>
                    <a:bodyPr wrap="square"/>
                    <a:lstStyle/>
                    <a:p>
                      <a:pPr algn="ctr"/>
                      <a:r>
                        <a:rPr sz="1100"/>
                        <a:t>WBS 자동 취합</a:t>
                      </a:r>
                    </a:p>
                  </a:txBody>
                  <a:tcPr>
                    <a:solidFill>
                      <a:srgbClr val="F0F5FA"/>
                    </a:solidFill>
                  </a:tcPr>
                </a:tc>
                <a:tc>
                  <a:txBody>
                    <a:bodyPr wrap="square"/>
                    <a:lstStyle/>
                    <a:p>
                      <a:pPr algn="ctr"/>
                      <a:r>
                        <a:rPr sz="1100"/>
                        <a:t>Jira 일정과 Task 상태 기반 WBS 생성</a:t>
                      </a:r>
                    </a:p>
                  </a:txBody>
                  <a:tcPr>
                    <a:solidFill>
                      <a:srgbClr val="F0F5FA"/>
                    </a:solidFill>
                  </a:tcPr>
                </a:tc>
              </a:tr>
              <a:tr h="548640">
                <a:tc>
                  <a:txBody>
                    <a:bodyPr wrap="square"/>
                    <a:lstStyle/>
                    <a:p>
                      <a:pPr algn="ctr"/>
                      <a:r>
                        <a:rPr sz="1100"/>
                        <a:t>공정률 자동 산정</a:t>
                      </a:r>
                    </a:p>
                  </a:txBody>
                  <a:tcPr>
                    <a:solidFill>
                      <a:srgbClr val="F0F5FA"/>
                    </a:solidFill>
                  </a:tcPr>
                </a:tc>
                <a:tc>
                  <a:txBody>
                    <a:bodyPr wrap="square"/>
                    <a:lstStyle/>
                    <a:p>
                      <a:pPr algn="ctr"/>
                      <a:r>
                        <a:rPr sz="1100"/>
                        <a:t>TDD 통과 기준과 Jira 완료 상태 기반 산정</a:t>
                      </a:r>
                    </a:p>
                  </a:txBody>
                  <a:tcPr>
                    <a:solidFill>
                      <a:srgbClr val="F0F5FA"/>
                    </a:solidFill>
                  </a:tcPr>
                </a:tc>
              </a:tr>
              <a:tr h="548640">
                <a:tc>
                  <a:txBody>
                    <a:bodyPr wrap="square"/>
                    <a:lstStyle/>
                    <a:p>
                      <a:pPr algn="ctr"/>
                      <a:r>
                        <a:rPr sz="1100"/>
                        <a:t>주간보고 자동화</a:t>
                      </a:r>
                    </a:p>
                  </a:txBody>
                  <a:tcPr>
                    <a:solidFill>
                      <a:srgbClr val="F0F5FA"/>
                    </a:solidFill>
                  </a:tcPr>
                </a:tc>
                <a:tc>
                  <a:txBody>
                    <a:bodyPr wrap="square"/>
                    <a:lstStyle/>
                    <a:p>
                      <a:pPr algn="ctr"/>
                      <a:r>
                        <a:rPr sz="1100"/>
                        <a:t>Jira, Confluence, Slack 데이터를 취합해 보고서 생성</a:t>
                      </a:r>
                    </a:p>
                  </a:txBody>
                  <a:tcPr>
                    <a:solidFill>
                      <a:srgbClr val="F0F5FA"/>
                    </a:solidFill>
                  </a:tcPr>
                </a:tc>
              </a:tr>
              <a:tr h="548640">
                <a:tc>
                  <a:txBody>
                    <a:bodyPr wrap="square"/>
                    <a:lstStyle/>
                    <a:p>
                      <a:pPr algn="ctr"/>
                      <a:r>
                        <a:rPr sz="1100"/>
                        <a:t>월간보고 자동화</a:t>
                      </a:r>
                    </a:p>
                  </a:txBody>
                  <a:tcPr>
                    <a:solidFill>
                      <a:srgbClr val="F0F5FA"/>
                    </a:solidFill>
                  </a:tcPr>
                </a:tc>
                <a:tc>
                  <a:txBody>
                    <a:bodyPr wrap="square"/>
                    <a:lstStyle/>
                    <a:p>
                      <a:pPr algn="ctr"/>
                      <a:r>
                        <a:rPr sz="1100"/>
                        <a:t>월간 통계, 주요 이슈, 리스크, 조치현황 자동 생성</a:t>
                      </a:r>
                    </a:p>
                  </a:txBody>
                  <a:tcPr>
                    <a:solidFill>
                      <a:srgbClr val="F0F5FA"/>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548640"/>
          </a:xfrm>
          <a:prstGeom prst="rect">
            <a:avLst/>
          </a:prstGeom>
          <a:noFill/>
        </p:spPr>
        <p:txBody>
          <a:bodyPr wrap="none">
            <a:spAutoFit/>
          </a:bodyPr>
          <a:lstStyle/>
          <a:p>
            <a:pPr>
              <a:defRPr sz="1800" b="1">
                <a:solidFill>
                  <a:srgbClr val="2163BB"/>
                </a:solidFill>
              </a:defRPr>
            </a:pPr>
            <a:r>
              <a:t>7.4 개발 자동화</a:t>
            </a:r>
          </a:p>
        </p:txBody>
      </p:sp>
      <p:graphicFrame>
        <p:nvGraphicFramePr>
          <p:cNvPr id="3" name="Table 2"/>
          <p:cNvGraphicFramePr>
            <a:graphicFrameLocks noGrp="1"/>
          </p:cNvGraphicFramePr>
          <p:nvPr/>
        </p:nvGraphicFramePr>
        <p:xfrm>
          <a:off x="457200" y="960120"/>
          <a:ext cx="11277294" cy="2743200"/>
        </p:xfrm>
        <a:graphic>
          <a:graphicData uri="http://schemas.openxmlformats.org/drawingml/2006/table">
            <a:tbl>
              <a:tblPr firstRow="1" bandRow="1">
                <a:tableStyleId>{5C22544A-7EE6-4342-B048-85BDC9FD1C3A}</a:tableStyleId>
              </a:tblPr>
              <a:tblGrid>
                <a:gridCol w="5638647"/>
                <a:gridCol w="5638647"/>
              </a:tblGrid>
              <a:tr h="2743200">
                <a:tc>
                  <a:txBody>
                    <a:bodyPr wrap="square"/>
                    <a:lstStyle/>
                    <a:p>
                      <a:pPr algn="ctr"/>
                      <a:r>
                        <a:rPr sz="1100" b="1">
                          <a:solidFill>
                            <a:srgbClr val="FFFFFF"/>
                          </a:solidFill>
                        </a:rPr>
                        <a:t>과제</a:t>
                      </a:r>
                    </a:p>
                  </a:txBody>
                  <a:tcPr>
                    <a:solidFill>
                      <a:srgbClr val="2163BB"/>
                    </a:solidFill>
                  </a:tcPr>
                </a:tc>
                <a:tc>
                  <a:txBody>
                    <a:bodyPr wrap="square"/>
                    <a:lstStyle/>
                    <a:p>
                      <a:pPr algn="ctr"/>
                      <a:r>
                        <a:rPr sz="1100" b="1">
                          <a:solidFill>
                            <a:srgbClr val="FFFFFF"/>
                          </a:solidFill>
                        </a:rPr>
                        <a:t>내용</a:t>
                      </a:r>
                    </a:p>
                  </a:txBody>
                  <a:tcPr>
                    <a:solidFill>
                      <a:srgbClr val="2163BB"/>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graphicFrame>
        <p:nvGraphicFramePr>
          <p:cNvPr id="3" name="Table 2"/>
          <p:cNvGraphicFramePr>
            <a:graphicFrameLocks noGrp="1"/>
          </p:cNvGraphicFramePr>
          <p:nvPr/>
        </p:nvGraphicFramePr>
        <p:xfrm>
          <a:off x="457200" y="822960"/>
          <a:ext cx="11277294" cy="2743200"/>
        </p:xfrm>
        <a:graphic>
          <a:graphicData uri="http://schemas.openxmlformats.org/drawingml/2006/table">
            <a:tbl>
              <a:tblPr firstRow="1" bandRow="1">
                <a:tableStyleId>{5C22544A-7EE6-4342-B048-85BDC9FD1C3A}</a:tableStyleId>
              </a:tblPr>
              <a:tblGrid>
                <a:gridCol w="5638647"/>
                <a:gridCol w="5638647"/>
              </a:tblGrid>
              <a:tr h="548640">
                <a:tc>
                  <a:txBody>
                    <a:bodyPr wrap="square"/>
                    <a:lstStyle/>
                    <a:p>
                      <a:pPr algn="ctr"/>
                      <a:r>
                        <a:rPr sz="1100" b="1">
                          <a:solidFill>
                            <a:srgbClr val="FFFFFF"/>
                          </a:solidFill>
                        </a:rPr>
                        <a:t>Spec Kit 적용</a:t>
                      </a:r>
                    </a:p>
                  </a:txBody>
                  <a:tcPr>
                    <a:solidFill>
                      <a:srgbClr val="2163BB"/>
                    </a:solidFill>
                  </a:tcPr>
                </a:tc>
                <a:tc>
                  <a:txBody>
                    <a:bodyPr wrap="square"/>
                    <a:lstStyle/>
                    <a:p>
                      <a:pPr algn="ctr"/>
                      <a:r>
                        <a:rPr sz="1100" b="1">
                          <a:solidFill>
                            <a:srgbClr val="FFFFFF"/>
                          </a:solidFill>
                        </a:rPr>
                        <a:t>`/speckit.specify`, `/speckit.plan`, `/speckit.tasks` 활용</a:t>
                      </a:r>
                    </a:p>
                  </a:txBody>
                  <a:tcPr>
                    <a:solidFill>
                      <a:srgbClr val="2163BB"/>
                    </a:solidFill>
                  </a:tcPr>
                </a:tc>
              </a:tr>
              <a:tr h="548640">
                <a:tc>
                  <a:txBody>
                    <a:bodyPr wrap="square"/>
                    <a:lstStyle/>
                    <a:p>
                      <a:pPr algn="ctr"/>
                      <a:r>
                        <a:rPr sz="1100"/>
                        <a:t>TDD 기준 수립</a:t>
                      </a:r>
                    </a:p>
                  </a:txBody>
                  <a:tcPr>
                    <a:solidFill>
                      <a:srgbClr val="F0F5FA"/>
                    </a:solidFill>
                  </a:tcPr>
                </a:tc>
                <a:tc>
                  <a:txBody>
                    <a:bodyPr wrap="square"/>
                    <a:lstStyle/>
                    <a:p>
                      <a:pPr algn="ctr"/>
                      <a:r>
                        <a:rPr sz="1100"/>
                        <a:t>테스트 작성 → 구현 → 통과 → 리팩터링 흐름 정착</a:t>
                      </a:r>
                    </a:p>
                  </a:txBody>
                  <a:tcPr>
                    <a:solidFill>
                      <a:srgbClr val="F0F5FA"/>
                    </a:solidFill>
                  </a:tcPr>
                </a:tc>
              </a:tr>
              <a:tr h="548640">
                <a:tc>
                  <a:txBody>
                    <a:bodyPr wrap="square"/>
                    <a:lstStyle/>
                    <a:p>
                      <a:pPr algn="ctr"/>
                      <a:r>
                        <a:rPr sz="1100"/>
                        <a:t>컴포넌트 표준화</a:t>
                      </a:r>
                    </a:p>
                  </a:txBody>
                  <a:tcPr>
                    <a:solidFill>
                      <a:srgbClr val="F0F5FA"/>
                    </a:solidFill>
                  </a:tcPr>
                </a:tc>
                <a:tc>
                  <a:txBody>
                    <a:bodyPr wrap="square"/>
                    <a:lstStyle/>
                    <a:p>
                      <a:pPr algn="ctr"/>
                      <a:r>
                        <a:rPr sz="1100"/>
                        <a:t>KOMSA 화면 패턴 기반 컴포넌트 명세서 정립</a:t>
                      </a:r>
                    </a:p>
                  </a:txBody>
                  <a:tcPr>
                    <a:solidFill>
                      <a:srgbClr val="F0F5FA"/>
                    </a:solidFill>
                  </a:tcPr>
                </a:tc>
              </a:tr>
              <a:tr h="548640">
                <a:tc>
                  <a:txBody>
                    <a:bodyPr wrap="square"/>
                    <a:lstStyle/>
                    <a:p>
                      <a:pPr algn="ctr"/>
                      <a:r>
                        <a:rPr sz="1100"/>
                        <a:t>공통기능 설정</a:t>
                      </a:r>
                    </a:p>
                  </a:txBody>
                  <a:tcPr>
                    <a:solidFill>
                      <a:srgbClr val="F0F5FA"/>
                    </a:solidFill>
                  </a:tcPr>
                </a:tc>
                <a:tc>
                  <a:txBody>
                    <a:bodyPr wrap="square"/>
                    <a:lstStyle/>
                    <a:p>
                      <a:pPr algn="ctr"/>
                      <a:r>
                        <a:rPr sz="1100"/>
                        <a:t>공통 API, 솔루션, 환경설정, 표준 패턴 정리</a:t>
                      </a:r>
                    </a:p>
                  </a:txBody>
                  <a:tcPr>
                    <a:solidFill>
                      <a:srgbClr val="F0F5FA"/>
                    </a:solidFill>
                  </a:tcPr>
                </a:tc>
              </a:tr>
              <a:tr h="548640">
                <a:tc>
                  <a:txBody>
                    <a:bodyPr wrap="square"/>
                    <a:lstStyle/>
                    <a:p>
                      <a:pPr algn="ctr"/>
                      <a:r>
                        <a:rPr sz="1100"/>
                        <a:t>에이전트 성능 검증</a:t>
                      </a:r>
                    </a:p>
                  </a:txBody>
                  <a:tcPr>
                    <a:solidFill>
                      <a:srgbClr val="F0F5FA"/>
                    </a:solidFill>
                  </a:tcPr>
                </a:tc>
                <a:tc>
                  <a:txBody>
                    <a:bodyPr wrap="square"/>
                    <a:lstStyle/>
                    <a:p>
                      <a:pPr algn="ctr"/>
                      <a:r>
                        <a:rPr sz="1100"/>
                        <a:t>실제 업무 시스템에 적용해 품질과 생산성 검증</a:t>
                      </a:r>
                    </a:p>
                  </a:txBody>
                  <a:tcPr>
                    <a:solidFill>
                      <a:srgbClr val="F0F5FA"/>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2163BB"/>
                </a:solidFill>
              </a:defRPr>
            </a:pPr>
            <a:r>
              <a:t>8. 담당자별 역할</a:t>
            </a:r>
          </a:p>
        </p:txBody>
      </p:sp>
      <p:sp>
        <p:nvSpPr>
          <p:cNvPr id="3" name="TextBox 2"/>
          <p:cNvSpPr txBox="1"/>
          <p:nvPr/>
        </p:nvSpPr>
        <p:spPr>
          <a:xfrm>
            <a:off x="457200" y="1143000"/>
            <a:ext cx="11277295" cy="548640"/>
          </a:xfrm>
          <a:prstGeom prst="rect">
            <a:avLst/>
          </a:prstGeom>
          <a:noFill/>
        </p:spPr>
        <p:txBody>
          <a:bodyPr wrap="none">
            <a:spAutoFit/>
          </a:bodyPr>
          <a:lstStyle/>
          <a:p>
            <a:pPr>
              <a:defRPr sz="1800" b="1">
                <a:solidFill>
                  <a:srgbClr val="2163BB"/>
                </a:solidFill>
              </a:defRPr>
            </a:pPr>
            <a:r>
              <a:t>8.1 신대원 부장</a:t>
            </a:r>
          </a:p>
        </p:txBody>
      </p:sp>
      <p:graphicFrame>
        <p:nvGraphicFramePr>
          <p:cNvPr id="4" name="Table 3"/>
          <p:cNvGraphicFramePr>
            <a:graphicFrameLocks noGrp="1"/>
          </p:cNvGraphicFramePr>
          <p:nvPr/>
        </p:nvGraphicFramePr>
        <p:xfrm>
          <a:off x="457200" y="1737360"/>
          <a:ext cx="11277294" cy="2743200"/>
        </p:xfrm>
        <a:graphic>
          <a:graphicData uri="http://schemas.openxmlformats.org/drawingml/2006/table">
            <a:tbl>
              <a:tblPr firstRow="1" bandRow="1">
                <a:tableStyleId>{5C22544A-7EE6-4342-B048-85BDC9FD1C3A}</a:tableStyleId>
              </a:tblPr>
              <a:tblGrid>
                <a:gridCol w="5638647"/>
                <a:gridCol w="5638647"/>
              </a:tblGrid>
              <a:tr h="2743200">
                <a:tc>
                  <a:txBody>
                    <a:bodyPr wrap="square"/>
                    <a:lstStyle/>
                    <a:p>
                      <a:pPr algn="ctr"/>
                      <a:r>
                        <a:rPr sz="1100" b="1">
                          <a:solidFill>
                            <a:srgbClr val="FFFFFF"/>
                          </a:solidFill>
                        </a:rPr>
                        <a:t>역할</a:t>
                      </a:r>
                    </a:p>
                  </a:txBody>
                  <a:tcPr>
                    <a:solidFill>
                      <a:srgbClr val="2163BB"/>
                    </a:solidFill>
                  </a:tcPr>
                </a:tc>
                <a:tc>
                  <a:txBody>
                    <a:bodyPr wrap="square"/>
                    <a:lstStyle/>
                    <a:p>
                      <a:pPr algn="ctr"/>
                      <a:r>
                        <a:rPr sz="1100" b="1">
                          <a:solidFill>
                            <a:srgbClr val="FFFFFF"/>
                          </a:solidFill>
                        </a:rPr>
                        <a:t>주요 내용</a:t>
                      </a:r>
                    </a:p>
                  </a:txBody>
                  <a:tcPr>
                    <a:solidFill>
                      <a:srgbClr val="2163BB"/>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graphicFrame>
        <p:nvGraphicFramePr>
          <p:cNvPr id="2" name="Table 1"/>
          <p:cNvGraphicFramePr>
            <a:graphicFrameLocks noGrp="1"/>
          </p:cNvGraphicFramePr>
          <p:nvPr/>
        </p:nvGraphicFramePr>
        <p:xfrm>
          <a:off x="457200" y="365760"/>
          <a:ext cx="11277294" cy="2743200"/>
        </p:xfrm>
        <a:graphic>
          <a:graphicData uri="http://schemas.openxmlformats.org/drawingml/2006/table">
            <a:tbl>
              <a:tblPr firstRow="1" bandRow="1">
                <a:tableStyleId>{5C22544A-7EE6-4342-B048-85BDC9FD1C3A}</a:tableStyleId>
              </a:tblPr>
              <a:tblGrid>
                <a:gridCol w="5638647"/>
                <a:gridCol w="5638647"/>
              </a:tblGrid>
              <a:tr h="685800">
                <a:tc>
                  <a:txBody>
                    <a:bodyPr wrap="square"/>
                    <a:lstStyle/>
                    <a:p>
                      <a:pPr algn="ctr"/>
                      <a:r>
                        <a:rPr sz="1100" b="1">
                          <a:solidFill>
                            <a:srgbClr val="FFFFFF"/>
                          </a:solidFill>
                        </a:rPr>
                        <a:t>AI 툴 관리</a:t>
                      </a:r>
                    </a:p>
                  </a:txBody>
                  <a:tcPr>
                    <a:solidFill>
                      <a:srgbClr val="2163BB"/>
                    </a:solidFill>
                  </a:tcPr>
                </a:tc>
                <a:tc>
                  <a:txBody>
                    <a:bodyPr wrap="square"/>
                    <a:lstStyle/>
                    <a:p>
                      <a:pPr algn="ctr"/>
                      <a:r>
                        <a:rPr sz="1100" b="1">
                          <a:solidFill>
                            <a:srgbClr val="FFFFFF"/>
                          </a:solidFill>
                        </a:rPr>
                        <a:t>Jira, Confluence, Slack, Claude를 기본 도구로 사용하고, Hermes Agent 등 필요한 AI 도구 도입 검토 및 관리</a:t>
                      </a:r>
                    </a:p>
                  </a:txBody>
                  <a:tcPr>
                    <a:solidFill>
                      <a:srgbClr val="2163BB"/>
                    </a:solidFill>
                  </a:tcPr>
                </a:tc>
              </a:tr>
              <a:tr h="685800">
                <a:tc>
                  <a:txBody>
                    <a:bodyPr wrap="square"/>
                    <a:lstStyle/>
                    <a:p>
                      <a:pPr algn="ctr"/>
                      <a:r>
                        <a:rPr sz="1100"/>
                        <a:t>에이전트·룰·스킬 관리</a:t>
                      </a:r>
                    </a:p>
                  </a:txBody>
                  <a:tcPr>
                    <a:solidFill>
                      <a:srgbClr val="F0F5FA"/>
                    </a:solidFill>
                  </a:tcPr>
                </a:tc>
                <a:tc>
                  <a:txBody>
                    <a:bodyPr wrap="square"/>
                    <a:lstStyle/>
                    <a:p>
                      <a:pPr algn="ctr"/>
                      <a:r>
                        <a:rPr sz="1100"/>
                        <a:t>팀원 의견을 반영하여 AI 설정, 프롬프트 규칙, 에이전트 룰, 스킬 관리</a:t>
                      </a:r>
                    </a:p>
                  </a:txBody>
                  <a:tcPr>
                    <a:solidFill>
                      <a:srgbClr val="F0F5FA"/>
                    </a:solidFill>
                  </a:tcPr>
                </a:tc>
              </a:tr>
              <a:tr h="685800">
                <a:tc>
                  <a:txBody>
                    <a:bodyPr wrap="square"/>
                    <a:lstStyle/>
                    <a:p>
                      <a:pPr algn="ctr"/>
                      <a:r>
                        <a:rPr sz="1100"/>
                        <a:t>전자정부프레임워크 테스트</a:t>
                      </a:r>
                    </a:p>
                  </a:txBody>
                  <a:tcPr>
                    <a:solidFill>
                      <a:srgbClr val="F0F5FA"/>
                    </a:solidFill>
                  </a:tcPr>
                </a:tc>
                <a:tc>
                  <a:txBody>
                    <a:bodyPr wrap="square"/>
                    <a:lstStyle/>
                    <a:p>
                      <a:pPr algn="ctr"/>
                      <a:r>
                        <a:rPr sz="1100"/>
                        <a:t>Claude를 활용한 전자정부프레임워크 기반 코딩 자동화 테스트 수행</a:t>
                      </a:r>
                    </a:p>
                  </a:txBody>
                  <a:tcPr>
                    <a:solidFill>
                      <a:srgbClr val="F0F5FA"/>
                    </a:solidFill>
                  </a:tcPr>
                </a:tc>
              </a:tr>
              <a:tr h="685800">
                <a:tc>
                  <a:txBody>
                    <a:bodyPr wrap="square"/>
                    <a:lstStyle/>
                    <a:p>
                      <a:pPr algn="ctr"/>
                      <a:r>
                        <a:rPr sz="1100"/>
                        <a:t>추진 총괄</a:t>
                      </a:r>
                    </a:p>
                  </a:txBody>
                  <a:tcPr>
                    <a:solidFill>
                      <a:srgbClr val="F0F5FA"/>
                    </a:solidFill>
                  </a:tcPr>
                </a:tc>
                <a:tc>
                  <a:txBody>
                    <a:bodyPr wrap="square"/>
                    <a:lstStyle/>
                    <a:p>
                      <a:pPr algn="ctr"/>
                      <a:r>
                        <a:rPr sz="1100"/>
                        <a:t>AI 기반 프로젝트 관리 최적화 방향 수립 및 성과 관리</a:t>
                      </a:r>
                    </a:p>
                  </a:txBody>
                  <a:tcPr>
                    <a:solidFill>
                      <a:srgbClr val="F0F5FA"/>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548640"/>
          </a:xfrm>
          <a:prstGeom prst="rect">
            <a:avLst/>
          </a:prstGeom>
          <a:noFill/>
        </p:spPr>
        <p:txBody>
          <a:bodyPr wrap="none">
            <a:spAutoFit/>
          </a:bodyPr>
          <a:lstStyle/>
          <a:p>
            <a:pPr>
              <a:defRPr sz="1800" b="1">
                <a:solidFill>
                  <a:srgbClr val="2163BB"/>
                </a:solidFill>
              </a:defRPr>
            </a:pPr>
            <a:r>
              <a:t>8.2 윤지혜 과장</a:t>
            </a:r>
          </a:p>
        </p:txBody>
      </p:sp>
      <p:graphicFrame>
        <p:nvGraphicFramePr>
          <p:cNvPr id="3" name="Table 2"/>
          <p:cNvGraphicFramePr>
            <a:graphicFrameLocks noGrp="1"/>
          </p:cNvGraphicFramePr>
          <p:nvPr/>
        </p:nvGraphicFramePr>
        <p:xfrm>
          <a:off x="457200" y="960120"/>
          <a:ext cx="11277294" cy="2743200"/>
        </p:xfrm>
        <a:graphic>
          <a:graphicData uri="http://schemas.openxmlformats.org/drawingml/2006/table">
            <a:tbl>
              <a:tblPr firstRow="1" bandRow="1">
                <a:tableStyleId>{5C22544A-7EE6-4342-B048-85BDC9FD1C3A}</a:tableStyleId>
              </a:tblPr>
              <a:tblGrid>
                <a:gridCol w="5638647"/>
                <a:gridCol w="5638647"/>
              </a:tblGrid>
              <a:tr h="2743200">
                <a:tc>
                  <a:txBody>
                    <a:bodyPr wrap="square"/>
                    <a:lstStyle/>
                    <a:p>
                      <a:pPr algn="ctr"/>
                      <a:r>
                        <a:rPr sz="1100" b="1">
                          <a:solidFill>
                            <a:srgbClr val="FFFFFF"/>
                          </a:solidFill>
                        </a:rPr>
                        <a:t>역할</a:t>
                      </a:r>
                    </a:p>
                  </a:txBody>
                  <a:tcPr>
                    <a:solidFill>
                      <a:srgbClr val="2163BB"/>
                    </a:solidFill>
                  </a:tcPr>
                </a:tc>
                <a:tc>
                  <a:txBody>
                    <a:bodyPr wrap="square"/>
                    <a:lstStyle/>
                    <a:p>
                      <a:pPr algn="ctr"/>
                      <a:r>
                        <a:rPr sz="1100" b="1">
                          <a:solidFill>
                            <a:srgbClr val="FFFFFF"/>
                          </a:solidFill>
                        </a:rPr>
                        <a:t>주요 내용</a:t>
                      </a:r>
                    </a:p>
                  </a:txBody>
                  <a:tcPr>
                    <a:solidFill>
                      <a:srgbClr val="2163BB"/>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graphicFrame>
        <p:nvGraphicFramePr>
          <p:cNvPr id="3" name="Table 2"/>
          <p:cNvGraphicFramePr>
            <a:graphicFrameLocks noGrp="1"/>
          </p:cNvGraphicFramePr>
          <p:nvPr/>
        </p:nvGraphicFramePr>
        <p:xfrm>
          <a:off x="457200" y="822960"/>
          <a:ext cx="11277294" cy="2743200"/>
        </p:xfrm>
        <a:graphic>
          <a:graphicData uri="http://schemas.openxmlformats.org/drawingml/2006/table">
            <a:tbl>
              <a:tblPr firstRow="1" bandRow="1">
                <a:tableStyleId>{5C22544A-7EE6-4342-B048-85BDC9FD1C3A}</a:tableStyleId>
              </a:tblPr>
              <a:tblGrid>
                <a:gridCol w="5638647"/>
                <a:gridCol w="5638647"/>
              </a:tblGrid>
              <a:tr h="685800">
                <a:tc>
                  <a:txBody>
                    <a:bodyPr wrap="square"/>
                    <a:lstStyle/>
                    <a:p>
                      <a:pPr algn="ctr"/>
                      <a:r>
                        <a:rPr sz="1100" b="1">
                          <a:solidFill>
                            <a:srgbClr val="FFFFFF"/>
                          </a:solidFill>
                        </a:rPr>
                        <a:t>문서관리 전략 수립</a:t>
                      </a:r>
                    </a:p>
                  </a:txBody>
                  <a:tcPr>
                    <a:solidFill>
                      <a:srgbClr val="2163BB"/>
                    </a:solidFill>
                  </a:tcPr>
                </a:tc>
                <a:tc>
                  <a:txBody>
                    <a:bodyPr wrap="square"/>
                    <a:lstStyle/>
                    <a:p>
                      <a:pPr algn="ctr"/>
                      <a:r>
                        <a:rPr sz="1100" b="1">
                          <a:solidFill>
                            <a:srgbClr val="FFFFFF"/>
                          </a:solidFill>
                        </a:rPr>
                        <a:t>정부기관 문서 템플릿 등록 및 산출물 관리 체계 수립</a:t>
                      </a:r>
                    </a:p>
                  </a:txBody>
                  <a:tcPr>
                    <a:solidFill>
                      <a:srgbClr val="2163BB"/>
                    </a:solidFill>
                  </a:tcPr>
                </a:tc>
              </a:tr>
              <a:tr h="685800">
                <a:tc>
                  <a:txBody>
                    <a:bodyPr wrap="square"/>
                    <a:lstStyle/>
                    <a:p>
                      <a:pPr algn="ctr"/>
                      <a:r>
                        <a:rPr sz="1100"/>
                        <a:t>Jira/Confluence/Slack 문서관리</a:t>
                      </a:r>
                    </a:p>
                  </a:txBody>
                  <a:tcPr>
                    <a:solidFill>
                      <a:srgbClr val="F0F5FA"/>
                    </a:solidFill>
                  </a:tcPr>
                </a:tc>
                <a:tc>
                  <a:txBody>
                    <a:bodyPr wrap="square"/>
                    <a:lstStyle/>
                    <a:p>
                      <a:pPr algn="ctr"/>
                      <a:r>
                        <a:rPr sz="1100"/>
                        <a:t>Jira, Confluence, Slack을 활용한 문서 작성·검토·취합 전략 수립</a:t>
                      </a:r>
                    </a:p>
                  </a:txBody>
                  <a:tcPr>
                    <a:solidFill>
                      <a:srgbClr val="F0F5FA"/>
                    </a:solidFill>
                  </a:tcPr>
                </a:tc>
              </a:tr>
              <a:tr h="685800">
                <a:tc>
                  <a:txBody>
                    <a:bodyPr wrap="square"/>
                    <a:lstStyle/>
                    <a:p>
                      <a:pPr algn="ctr"/>
                      <a:r>
                        <a:rPr sz="1100"/>
                        <a:t>공정관리 자동화</a:t>
                      </a:r>
                    </a:p>
                  </a:txBody>
                  <a:tcPr>
                    <a:solidFill>
                      <a:srgbClr val="F0F5FA"/>
                    </a:solidFill>
                  </a:tcPr>
                </a:tc>
                <a:tc>
                  <a:txBody>
                    <a:bodyPr wrap="square"/>
                    <a:lstStyle/>
                    <a:p>
                      <a:pPr algn="ctr"/>
                      <a:r>
                        <a:rPr sz="1100"/>
                        <a:t>Jira에 등록된 Task를 취합하여 고객용 주간·월간 보고서 자동 생성 체계 수립</a:t>
                      </a:r>
                    </a:p>
                  </a:txBody>
                  <a:tcPr>
                    <a:solidFill>
                      <a:srgbClr val="F0F5FA"/>
                    </a:solidFill>
                  </a:tcPr>
                </a:tc>
              </a:tr>
              <a:tr h="685800">
                <a:tc>
                  <a:txBody>
                    <a:bodyPr wrap="square"/>
                    <a:lstStyle/>
                    <a:p>
                      <a:pPr algn="ctr"/>
                      <a:r>
                        <a:rPr sz="1100"/>
                        <a:t>산출물 품질관리</a:t>
                      </a:r>
                    </a:p>
                  </a:txBody>
                  <a:tcPr>
                    <a:solidFill>
                      <a:srgbClr val="F0F5FA"/>
                    </a:solidFill>
                  </a:tcPr>
                </a:tc>
                <a:tc>
                  <a:txBody>
                    <a:bodyPr wrap="square"/>
                    <a:lstStyle/>
                    <a:p>
                      <a:pPr algn="ctr"/>
                      <a:r>
                        <a:rPr sz="1100"/>
                        <a:t>산출물 누락, 검토 상태, 승인 상태 관리</a:t>
                      </a:r>
                    </a:p>
                  </a:txBody>
                  <a:tcPr>
                    <a:solidFill>
                      <a:srgbClr val="F0F5FA"/>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548640"/>
          </a:xfrm>
          <a:prstGeom prst="rect">
            <a:avLst/>
          </a:prstGeom>
          <a:noFill/>
        </p:spPr>
        <p:txBody>
          <a:bodyPr wrap="none">
            <a:spAutoFit/>
          </a:bodyPr>
          <a:lstStyle/>
          <a:p>
            <a:pPr>
              <a:defRPr sz="1800" b="1">
                <a:solidFill>
                  <a:srgbClr val="2163BB"/>
                </a:solidFill>
              </a:defRPr>
            </a:pPr>
            <a:r>
              <a:t>8.3 강호일 과장</a:t>
            </a:r>
          </a:p>
        </p:txBody>
      </p:sp>
      <p:graphicFrame>
        <p:nvGraphicFramePr>
          <p:cNvPr id="3" name="Table 2"/>
          <p:cNvGraphicFramePr>
            <a:graphicFrameLocks noGrp="1"/>
          </p:cNvGraphicFramePr>
          <p:nvPr/>
        </p:nvGraphicFramePr>
        <p:xfrm>
          <a:off x="457200" y="960120"/>
          <a:ext cx="11277294" cy="2743200"/>
        </p:xfrm>
        <a:graphic>
          <a:graphicData uri="http://schemas.openxmlformats.org/drawingml/2006/table">
            <a:tbl>
              <a:tblPr firstRow="1" bandRow="1">
                <a:tableStyleId>{5C22544A-7EE6-4342-B048-85BDC9FD1C3A}</a:tableStyleId>
              </a:tblPr>
              <a:tblGrid>
                <a:gridCol w="5638647"/>
                <a:gridCol w="5638647"/>
              </a:tblGrid>
              <a:tr h="2743200">
                <a:tc>
                  <a:txBody>
                    <a:bodyPr wrap="square"/>
                    <a:lstStyle/>
                    <a:p>
                      <a:pPr algn="ctr"/>
                      <a:r>
                        <a:rPr sz="1100" b="1">
                          <a:solidFill>
                            <a:srgbClr val="FFFFFF"/>
                          </a:solidFill>
                        </a:rPr>
                        <a:t>역할</a:t>
                      </a:r>
                    </a:p>
                  </a:txBody>
                  <a:tcPr>
                    <a:solidFill>
                      <a:srgbClr val="2163BB"/>
                    </a:solidFill>
                  </a:tcPr>
                </a:tc>
                <a:tc>
                  <a:txBody>
                    <a:bodyPr wrap="square"/>
                    <a:lstStyle/>
                    <a:p>
                      <a:pPr algn="ctr"/>
                      <a:r>
                        <a:rPr sz="1100" b="1">
                          <a:solidFill>
                            <a:srgbClr val="FFFFFF"/>
                          </a:solidFill>
                        </a:rPr>
                        <a:t>주요 내용</a:t>
                      </a:r>
                    </a:p>
                  </a:txBody>
                  <a:tcPr>
                    <a:solidFill>
                      <a:srgbClr val="2163BB"/>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graphicFrame>
        <p:nvGraphicFramePr>
          <p:cNvPr id="2" name="Table 1"/>
          <p:cNvGraphicFramePr>
            <a:graphicFrameLocks noGrp="1"/>
          </p:cNvGraphicFramePr>
          <p:nvPr/>
        </p:nvGraphicFramePr>
        <p:xfrm>
          <a:off x="457200" y="365760"/>
          <a:ext cx="11277294" cy="2743200"/>
        </p:xfrm>
        <a:graphic>
          <a:graphicData uri="http://schemas.openxmlformats.org/drawingml/2006/table">
            <a:tbl>
              <a:tblPr firstRow="1" bandRow="1">
                <a:tableStyleId>{5C22544A-7EE6-4342-B048-85BDC9FD1C3A}</a:tableStyleId>
              </a:tblPr>
              <a:tblGrid>
                <a:gridCol w="5638647"/>
                <a:gridCol w="5638647"/>
              </a:tblGrid>
              <a:tr h="685800">
                <a:tc>
                  <a:txBody>
                    <a:bodyPr wrap="square"/>
                    <a:lstStyle/>
                    <a:p>
                      <a:pPr algn="ctr"/>
                      <a:r>
                        <a:rPr sz="1100" b="1">
                          <a:solidFill>
                            <a:srgbClr val="FFFFFF"/>
                          </a:solidFill>
                        </a:rPr>
                        <a:t>에이전트 최적화</a:t>
                      </a:r>
                    </a:p>
                  </a:txBody>
                  <a:tcPr>
                    <a:solidFill>
                      <a:srgbClr val="2163BB"/>
                    </a:solidFill>
                  </a:tcPr>
                </a:tc>
                <a:tc>
                  <a:txBody>
                    <a:bodyPr wrap="square"/>
                    <a:lstStyle/>
                    <a:p>
                      <a:pPr algn="ctr"/>
                      <a:r>
                        <a:rPr sz="1100" b="1">
                          <a:solidFill>
                            <a:srgbClr val="FFFFFF"/>
                          </a:solidFill>
                        </a:rPr>
                        <a:t>KOMSA 개발환경에 맞추어 공통기능, 솔루션, API, 환경설정 지원</a:t>
                      </a:r>
                    </a:p>
                  </a:txBody>
                  <a:tcPr>
                    <a:solidFill>
                      <a:srgbClr val="2163BB"/>
                    </a:solidFill>
                  </a:tcPr>
                </a:tc>
              </a:tr>
              <a:tr h="685800">
                <a:tc>
                  <a:txBody>
                    <a:bodyPr wrap="square"/>
                    <a:lstStyle/>
                    <a:p>
                      <a:pPr algn="ctr"/>
                      <a:r>
                        <a:rPr sz="1100"/>
                        <a:t>개발환경 표준화</a:t>
                      </a:r>
                    </a:p>
                  </a:txBody>
                  <a:tcPr>
                    <a:solidFill>
                      <a:srgbClr val="F0F5FA"/>
                    </a:solidFill>
                  </a:tcPr>
                </a:tc>
                <a:tc>
                  <a:txBody>
                    <a:bodyPr wrap="square"/>
                    <a:lstStyle/>
                    <a:p>
                      <a:pPr algn="ctr"/>
                      <a:r>
                        <a:rPr sz="1100"/>
                        <a:t>AI가 활용할 수 있는 개발환경, 공통 모듈, API 명세 정리</a:t>
                      </a:r>
                    </a:p>
                  </a:txBody>
                  <a:tcPr>
                    <a:solidFill>
                      <a:srgbClr val="F0F5FA"/>
                    </a:solidFill>
                  </a:tcPr>
                </a:tc>
              </a:tr>
              <a:tr h="685800">
                <a:tc>
                  <a:txBody>
                    <a:bodyPr wrap="square"/>
                    <a:lstStyle/>
                    <a:p>
                      <a:pPr algn="ctr"/>
                      <a:r>
                        <a:rPr sz="1100"/>
                        <a:t>업무 테스트</a:t>
                      </a:r>
                    </a:p>
                  </a:txBody>
                  <a:tcPr>
                    <a:solidFill>
                      <a:srgbClr val="F0F5FA"/>
                    </a:solidFill>
                  </a:tcPr>
                </a:tc>
                <a:tc>
                  <a:txBody>
                    <a:bodyPr wrap="square"/>
                    <a:lstStyle/>
                    <a:p>
                      <a:pPr algn="ctr"/>
                      <a:r>
                        <a:rPr sz="1100"/>
                        <a:t>해수호봇, RCMS 업무에 AI 에이전트를 적용하여 성능 검증</a:t>
                      </a:r>
                    </a:p>
                  </a:txBody>
                  <a:tcPr>
                    <a:solidFill>
                      <a:srgbClr val="F0F5FA"/>
                    </a:solidFill>
                  </a:tcPr>
                </a:tc>
              </a:tr>
              <a:tr h="685800">
                <a:tc>
                  <a:txBody>
                    <a:bodyPr wrap="square"/>
                    <a:lstStyle/>
                    <a:p>
                      <a:pPr algn="ctr"/>
                      <a:r>
                        <a:rPr sz="1100"/>
                        <a:t>기술 검증</a:t>
                      </a:r>
                    </a:p>
                  </a:txBody>
                  <a:tcPr>
                    <a:solidFill>
                      <a:srgbClr val="F0F5FA"/>
                    </a:solidFill>
                  </a:tcPr>
                </a:tc>
                <a:tc>
                  <a:txBody>
                    <a:bodyPr wrap="square"/>
                    <a:lstStyle/>
                    <a:p>
                      <a:pPr algn="ctr"/>
                      <a:r>
                        <a:rPr sz="1100"/>
                        <a:t>생성 코드 품질, 테스트 통과율, 개발 생산성 검증</a:t>
                      </a:r>
                    </a:p>
                  </a:txBody>
                  <a:tcPr>
                    <a:solidFill>
                      <a:srgbClr val="F0F5FA"/>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548640"/>
          </a:xfrm>
          <a:prstGeom prst="rect">
            <a:avLst/>
          </a:prstGeom>
          <a:noFill/>
        </p:spPr>
        <p:txBody>
          <a:bodyPr wrap="none">
            <a:spAutoFit/>
          </a:bodyPr>
          <a:lstStyle/>
          <a:p>
            <a:pPr>
              <a:defRPr sz="1800" b="1">
                <a:solidFill>
                  <a:srgbClr val="2163BB"/>
                </a:solidFill>
              </a:defRPr>
            </a:pPr>
            <a:r>
              <a:t>8.4 박상원 대리</a:t>
            </a:r>
          </a:p>
        </p:txBody>
      </p:sp>
      <p:graphicFrame>
        <p:nvGraphicFramePr>
          <p:cNvPr id="3" name="Table 2"/>
          <p:cNvGraphicFramePr>
            <a:graphicFrameLocks noGrp="1"/>
          </p:cNvGraphicFramePr>
          <p:nvPr/>
        </p:nvGraphicFramePr>
        <p:xfrm>
          <a:off x="457200" y="960120"/>
          <a:ext cx="11277294" cy="2743200"/>
        </p:xfrm>
        <a:graphic>
          <a:graphicData uri="http://schemas.openxmlformats.org/drawingml/2006/table">
            <a:tbl>
              <a:tblPr firstRow="1" bandRow="1">
                <a:tableStyleId>{5C22544A-7EE6-4342-B048-85BDC9FD1C3A}</a:tableStyleId>
              </a:tblPr>
              <a:tblGrid>
                <a:gridCol w="5638647"/>
                <a:gridCol w="5638647"/>
              </a:tblGrid>
              <a:tr h="2743200">
                <a:tc>
                  <a:txBody>
                    <a:bodyPr wrap="square"/>
                    <a:lstStyle/>
                    <a:p>
                      <a:pPr algn="ctr"/>
                      <a:r>
                        <a:rPr sz="1100" b="1">
                          <a:solidFill>
                            <a:srgbClr val="FFFFFF"/>
                          </a:solidFill>
                        </a:rPr>
                        <a:t>역할</a:t>
                      </a:r>
                    </a:p>
                  </a:txBody>
                  <a:tcPr>
                    <a:solidFill>
                      <a:srgbClr val="2163BB"/>
                    </a:solidFill>
                  </a:tcPr>
                </a:tc>
                <a:tc>
                  <a:txBody>
                    <a:bodyPr wrap="square"/>
                    <a:lstStyle/>
                    <a:p>
                      <a:pPr algn="ctr"/>
                      <a:r>
                        <a:rPr sz="1100" b="1">
                          <a:solidFill>
                            <a:srgbClr val="FFFFFF"/>
                          </a:solidFill>
                        </a:rPr>
                        <a:t>주요 내용</a:t>
                      </a:r>
                    </a:p>
                  </a:txBody>
                  <a:tcPr>
                    <a:solidFill>
                      <a:srgbClr val="2163BB"/>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graphicFrame>
        <p:nvGraphicFramePr>
          <p:cNvPr id="2" name="Table 1"/>
          <p:cNvGraphicFramePr>
            <a:graphicFrameLocks noGrp="1"/>
          </p:cNvGraphicFramePr>
          <p:nvPr/>
        </p:nvGraphicFramePr>
        <p:xfrm>
          <a:off x="457200" y="365760"/>
          <a:ext cx="11277294" cy="2743200"/>
        </p:xfrm>
        <a:graphic>
          <a:graphicData uri="http://schemas.openxmlformats.org/drawingml/2006/table">
            <a:tbl>
              <a:tblPr firstRow="1" bandRow="1">
                <a:tableStyleId>{5C22544A-7EE6-4342-B048-85BDC9FD1C3A}</a:tableStyleId>
              </a:tblPr>
              <a:tblGrid>
                <a:gridCol w="5638647"/>
                <a:gridCol w="5638647"/>
              </a:tblGrid>
              <a:tr h="685800">
                <a:tc>
                  <a:txBody>
                    <a:bodyPr wrap="square"/>
                    <a:lstStyle/>
                    <a:p>
                      <a:pPr algn="ctr"/>
                      <a:r>
                        <a:rPr sz="1100" b="1">
                          <a:solidFill>
                            <a:srgbClr val="FFFFFF"/>
                          </a:solidFill>
                        </a:rPr>
                        <a:t>컴포넌트 최적화</a:t>
                      </a:r>
                    </a:p>
                  </a:txBody>
                  <a:tcPr>
                    <a:solidFill>
                      <a:srgbClr val="2163BB"/>
                    </a:solidFill>
                  </a:tcPr>
                </a:tc>
                <a:tc>
                  <a:txBody>
                    <a:bodyPr wrap="square"/>
                    <a:lstStyle/>
                    <a:p>
                      <a:pPr algn="ctr"/>
                      <a:r>
                        <a:rPr sz="1100" b="1">
                          <a:solidFill>
                            <a:srgbClr val="FFFFFF"/>
                          </a:solidFill>
                        </a:rPr>
                        <a:t>KOMSA 화면 패턴을 분석하여 컴포넌트 명세서 설정</a:t>
                      </a:r>
                    </a:p>
                  </a:txBody>
                  <a:tcPr>
                    <a:solidFill>
                      <a:srgbClr val="2163BB"/>
                    </a:solidFill>
                  </a:tcPr>
                </a:tc>
              </a:tr>
              <a:tr h="685800">
                <a:tc>
                  <a:txBody>
                    <a:bodyPr wrap="square"/>
                    <a:lstStyle/>
                    <a:p>
                      <a:pPr algn="ctr"/>
                      <a:r>
                        <a:rPr sz="1100"/>
                        <a:t>화면 패턴 표준화</a:t>
                      </a:r>
                    </a:p>
                  </a:txBody>
                  <a:tcPr>
                    <a:solidFill>
                      <a:srgbClr val="F0F5FA"/>
                    </a:solidFill>
                  </a:tcPr>
                </a:tc>
                <a:tc>
                  <a:txBody>
                    <a:bodyPr wrap="square"/>
                    <a:lstStyle/>
                    <a:p>
                      <a:pPr algn="ctr"/>
                      <a:r>
                        <a:rPr sz="1100"/>
                        <a:t>반복 화면, 공통 UI, 입력/조회/상세/승인 패턴 정리</a:t>
                      </a:r>
                    </a:p>
                  </a:txBody>
                  <a:tcPr>
                    <a:solidFill>
                      <a:srgbClr val="F0F5FA"/>
                    </a:solidFill>
                  </a:tcPr>
                </a:tc>
              </a:tr>
              <a:tr h="685800">
                <a:tc>
                  <a:txBody>
                    <a:bodyPr wrap="square"/>
                    <a:lstStyle/>
                    <a:p>
                      <a:pPr algn="ctr"/>
                      <a:r>
                        <a:rPr sz="1100"/>
                        <a:t>업무 테스트</a:t>
                      </a:r>
                    </a:p>
                  </a:txBody>
                  <a:tcPr>
                    <a:solidFill>
                      <a:srgbClr val="F0F5FA"/>
                    </a:solidFill>
                  </a:tcPr>
                </a:tc>
                <a:tc>
                  <a:txBody>
                    <a:bodyPr wrap="square"/>
                    <a:lstStyle/>
                    <a:p>
                      <a:pPr algn="ctr"/>
                      <a:r>
                        <a:rPr sz="1100"/>
                        <a:t>운항관리, 항만보안심사 업무에 AI 에이전트를 적용하여 성능 검증</a:t>
                      </a:r>
                    </a:p>
                  </a:txBody>
                  <a:tcPr>
                    <a:solidFill>
                      <a:srgbClr val="F0F5FA"/>
                    </a:solidFill>
                  </a:tcPr>
                </a:tc>
              </a:tr>
              <a:tr h="685800">
                <a:tc>
                  <a:txBody>
                    <a:bodyPr wrap="square"/>
                    <a:lstStyle/>
                    <a:p>
                      <a:pPr algn="ctr"/>
                      <a:r>
                        <a:rPr sz="1100"/>
                        <a:t>산출물 연계</a:t>
                      </a:r>
                    </a:p>
                  </a:txBody>
                  <a:tcPr>
                    <a:solidFill>
                      <a:srgbClr val="F0F5FA"/>
                    </a:solidFill>
                  </a:tcPr>
                </a:tc>
                <a:tc>
                  <a:txBody>
                    <a:bodyPr wrap="square"/>
                    <a:lstStyle/>
                    <a:p>
                      <a:pPr algn="ctr"/>
                      <a:r>
                        <a:rPr sz="1100"/>
                        <a:t>화면정의서, 컴포넌트정의서, 테스트케이스 간 연결 구조 검증</a:t>
                      </a:r>
                    </a:p>
                  </a:txBody>
                  <a:tcPr>
                    <a:solidFill>
                      <a:srgbClr val="F0F5FA"/>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2163BB"/>
                </a:solidFill>
              </a:defRPr>
            </a:pPr>
            <a:r>
              <a:t>9. 역할별 R&amp;R 요약</a:t>
            </a:r>
          </a:p>
        </p:txBody>
      </p:sp>
      <p:graphicFrame>
        <p:nvGraphicFramePr>
          <p:cNvPr id="3" name="Table 2"/>
          <p:cNvGraphicFramePr>
            <a:graphicFrameLocks noGrp="1"/>
          </p:cNvGraphicFramePr>
          <p:nvPr/>
        </p:nvGraphicFramePr>
        <p:xfrm>
          <a:off x="457200" y="1143000"/>
          <a:ext cx="11277295" cy="2743200"/>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2743200">
                <a:tc>
                  <a:txBody>
                    <a:bodyPr wrap="square"/>
                    <a:lstStyle/>
                    <a:p>
                      <a:pPr algn="ctr"/>
                      <a:r>
                        <a:rPr sz="1100" b="1">
                          <a:solidFill>
                            <a:srgbClr val="FFFFFF"/>
                          </a:solidFill>
                        </a:rPr>
                        <a:t>구분</a:t>
                      </a:r>
                    </a:p>
                  </a:txBody>
                  <a:tcPr>
                    <a:solidFill>
                      <a:srgbClr val="2163BB"/>
                    </a:solidFill>
                  </a:tcPr>
                </a:tc>
                <a:tc>
                  <a:txBody>
                    <a:bodyPr wrap="square"/>
                    <a:lstStyle/>
                    <a:p>
                      <a:pPr algn="ctr"/>
                      <a:r>
                        <a:rPr sz="1100" b="1">
                          <a:solidFill>
                            <a:srgbClr val="FFFFFF"/>
                          </a:solidFill>
                        </a:rPr>
                        <a:t>신대원 부장</a:t>
                      </a:r>
                    </a:p>
                  </a:txBody>
                  <a:tcPr>
                    <a:solidFill>
                      <a:srgbClr val="2163BB"/>
                    </a:solidFill>
                  </a:tcPr>
                </a:tc>
                <a:tc>
                  <a:txBody>
                    <a:bodyPr wrap="square"/>
                    <a:lstStyle/>
                    <a:p>
                      <a:pPr algn="ctr"/>
                      <a:r>
                        <a:rPr sz="1100" b="1">
                          <a:solidFill>
                            <a:srgbClr val="FFFFFF"/>
                          </a:solidFill>
                        </a:rPr>
                        <a:t>윤지혜 과장</a:t>
                      </a:r>
                    </a:p>
                  </a:txBody>
                  <a:tcPr>
                    <a:solidFill>
                      <a:srgbClr val="2163BB"/>
                    </a:solidFill>
                  </a:tcPr>
                </a:tc>
                <a:tc>
                  <a:txBody>
                    <a:bodyPr wrap="square"/>
                    <a:lstStyle/>
                    <a:p>
                      <a:pPr algn="ctr"/>
                      <a:r>
                        <a:rPr sz="1100" b="1">
                          <a:solidFill>
                            <a:srgbClr val="FFFFFF"/>
                          </a:solidFill>
                        </a:rPr>
                        <a:t>강호일 과장</a:t>
                      </a:r>
                    </a:p>
                  </a:txBody>
                  <a:tcPr>
                    <a:solidFill>
                      <a:srgbClr val="2163BB"/>
                    </a:solidFill>
                  </a:tcPr>
                </a:tc>
                <a:tc>
                  <a:txBody>
                    <a:bodyPr wrap="square"/>
                    <a:lstStyle/>
                    <a:p>
                      <a:pPr algn="ctr"/>
                      <a:r>
                        <a:rPr sz="1100" b="1">
                          <a:solidFill>
                            <a:srgbClr val="FFFFFF"/>
                          </a:solidFill>
                        </a:rPr>
                        <a:t>박상원 대리</a:t>
                      </a:r>
                    </a:p>
                  </a:txBody>
                  <a:tcPr>
                    <a:solidFill>
                      <a:srgbClr val="2163BB"/>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graphicFrame>
        <p:nvGraphicFramePr>
          <p:cNvPr id="2" name="Table 1"/>
          <p:cNvGraphicFramePr>
            <a:graphicFrameLocks noGrp="1"/>
          </p:cNvGraphicFramePr>
          <p:nvPr/>
        </p:nvGraphicFramePr>
        <p:xfrm>
          <a:off x="457200" y="365760"/>
          <a:ext cx="11277295" cy="2743200"/>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274320">
                <a:tc>
                  <a:txBody>
                    <a:bodyPr wrap="square"/>
                    <a:lstStyle/>
                    <a:p>
                      <a:pPr algn="ctr"/>
                      <a:r>
                        <a:rPr sz="1100" b="1">
                          <a:solidFill>
                            <a:srgbClr val="FFFFFF"/>
                          </a:solidFill>
                        </a:rPr>
                        <a:t>AI 도구 도입/관리</a:t>
                      </a:r>
                    </a:p>
                  </a:txBody>
                  <a:tcPr>
                    <a:solidFill>
                      <a:srgbClr val="2163BB"/>
                    </a:solidFill>
                  </a:tcPr>
                </a:tc>
                <a:tc>
                  <a:txBody>
                    <a:bodyPr wrap="square"/>
                    <a:lstStyle/>
                    <a:p>
                      <a:pPr algn="ctr"/>
                      <a:r>
                        <a:rPr sz="1100" b="1">
                          <a:solidFill>
                            <a:srgbClr val="FFFFFF"/>
                          </a:solidFill>
                        </a:rPr>
                        <a:t>주관</a:t>
                      </a:r>
                    </a:p>
                  </a:txBody>
                  <a:tcPr>
                    <a:solidFill>
                      <a:srgbClr val="2163BB"/>
                    </a:solidFill>
                  </a:tcPr>
                </a:tc>
                <a:tc>
                  <a:txBody>
                    <a:bodyPr wrap="square"/>
                    <a:lstStyle/>
                    <a:p>
                      <a:pPr algn="ctr"/>
                      <a:r>
                        <a:rPr sz="1100" b="1">
                          <a:solidFill>
                            <a:srgbClr val="FFFFFF"/>
                          </a:solidFill>
                        </a:rPr>
                        <a:t>지원</a:t>
                      </a:r>
                    </a:p>
                  </a:txBody>
                  <a:tcPr>
                    <a:solidFill>
                      <a:srgbClr val="2163BB"/>
                    </a:solidFill>
                  </a:tcPr>
                </a:tc>
                <a:tc>
                  <a:txBody>
                    <a:bodyPr wrap="square"/>
                    <a:lstStyle/>
                    <a:p>
                      <a:pPr algn="ctr"/>
                      <a:r>
                        <a:rPr sz="1100" b="1">
                          <a:solidFill>
                            <a:srgbClr val="FFFFFF"/>
                          </a:solidFill>
                        </a:rPr>
                        <a:t>지원</a:t>
                      </a:r>
                    </a:p>
                  </a:txBody>
                  <a:tcPr>
                    <a:solidFill>
                      <a:srgbClr val="2163BB"/>
                    </a:solidFill>
                  </a:tcPr>
                </a:tc>
                <a:tc>
                  <a:txBody>
                    <a:bodyPr wrap="square"/>
                    <a:lstStyle/>
                    <a:p>
                      <a:pPr algn="ctr"/>
                      <a:r>
                        <a:rPr sz="1100" b="1">
                          <a:solidFill>
                            <a:srgbClr val="FFFFFF"/>
                          </a:solidFill>
                        </a:rPr>
                        <a:t>지원</a:t>
                      </a:r>
                    </a:p>
                  </a:txBody>
                  <a:tcPr>
                    <a:solidFill>
                      <a:srgbClr val="2163BB"/>
                    </a:solidFill>
                  </a:tcPr>
                </a:tc>
              </a:tr>
              <a:tr h="274320">
                <a:tc>
                  <a:txBody>
                    <a:bodyPr wrap="square"/>
                    <a:lstStyle/>
                    <a:p>
                      <a:pPr algn="ctr"/>
                      <a:r>
                        <a:rPr sz="1100"/>
                        <a:t>에이전트 룰/스킬 관리</a:t>
                      </a:r>
                    </a:p>
                  </a:txBody>
                  <a:tcPr>
                    <a:solidFill>
                      <a:srgbClr val="F0F5FA"/>
                    </a:solidFill>
                  </a:tcPr>
                </a:tc>
                <a:tc>
                  <a:txBody>
                    <a:bodyPr wrap="square"/>
                    <a:lstStyle/>
                    <a:p>
                      <a:pPr algn="ctr"/>
                      <a:r>
                        <a:rPr sz="1100"/>
                        <a:t>주관</a:t>
                      </a:r>
                    </a:p>
                  </a:txBody>
                  <a:tcPr>
                    <a:solidFill>
                      <a:srgbClr val="F0F5FA"/>
                    </a:solidFill>
                  </a:tcPr>
                </a:tc>
                <a:tc>
                  <a:txBody>
                    <a:bodyPr wrap="square"/>
                    <a:lstStyle/>
                    <a:p>
                      <a:pPr algn="ctr"/>
                      <a:r>
                        <a:rPr sz="1100"/>
                        <a:t>지원</a:t>
                      </a:r>
                    </a:p>
                  </a:txBody>
                  <a:tcPr>
                    <a:solidFill>
                      <a:srgbClr val="F0F5FA"/>
                    </a:solidFill>
                  </a:tcPr>
                </a:tc>
                <a:tc>
                  <a:txBody>
                    <a:bodyPr wrap="square"/>
                    <a:lstStyle/>
                    <a:p>
                      <a:pPr algn="ctr"/>
                      <a:r>
                        <a:rPr sz="1100"/>
                        <a:t>지원</a:t>
                      </a:r>
                    </a:p>
                  </a:txBody>
                  <a:tcPr>
                    <a:solidFill>
                      <a:srgbClr val="F0F5FA"/>
                    </a:solidFill>
                  </a:tcPr>
                </a:tc>
                <a:tc>
                  <a:txBody>
                    <a:bodyPr wrap="square"/>
                    <a:lstStyle/>
                    <a:p>
                      <a:pPr algn="ctr"/>
                      <a:r>
                        <a:rPr sz="1100"/>
                        <a:t>지원</a:t>
                      </a:r>
                    </a:p>
                  </a:txBody>
                  <a:tcPr>
                    <a:solidFill>
                      <a:srgbClr val="F0F5FA"/>
                    </a:solidFill>
                  </a:tcPr>
                </a:tc>
              </a:tr>
              <a:tr h="274320">
                <a:tc>
                  <a:txBody>
                    <a:bodyPr wrap="square"/>
                    <a:lstStyle/>
                    <a:p>
                      <a:pPr algn="ctr"/>
                      <a:r>
                        <a:rPr sz="1100"/>
                        <a:t>문서 템플릿 관리</a:t>
                      </a:r>
                    </a:p>
                  </a:txBody>
                  <a:tcPr>
                    <a:solidFill>
                      <a:srgbClr val="F0F5FA"/>
                    </a:solidFill>
                  </a:tcPr>
                </a:tc>
                <a:tc>
                  <a:txBody>
                    <a:bodyPr wrap="square"/>
                    <a:lstStyle/>
                    <a:p>
                      <a:pPr algn="ctr"/>
                      <a:r>
                        <a:rPr sz="1100"/>
                        <a:t>검토</a:t>
                      </a:r>
                    </a:p>
                  </a:txBody>
                  <a:tcPr>
                    <a:solidFill>
                      <a:srgbClr val="F0F5FA"/>
                    </a:solidFill>
                  </a:tcPr>
                </a:tc>
                <a:tc>
                  <a:txBody>
                    <a:bodyPr wrap="square"/>
                    <a:lstStyle/>
                    <a:p>
                      <a:pPr algn="ctr"/>
                      <a:r>
                        <a:rPr sz="1100"/>
                        <a:t>주관</a:t>
                      </a:r>
                    </a:p>
                  </a:txBody>
                  <a:tcPr>
                    <a:solidFill>
                      <a:srgbClr val="F0F5FA"/>
                    </a:solidFill>
                  </a:tcPr>
                </a:tc>
                <a:tc>
                  <a:txBody>
                    <a:bodyPr wrap="square"/>
                    <a:lstStyle/>
                    <a:p>
                      <a:pPr algn="ctr"/>
                      <a:r>
                        <a:rPr sz="1100"/>
                        <a:t>지원</a:t>
                      </a:r>
                    </a:p>
                  </a:txBody>
                  <a:tcPr>
                    <a:solidFill>
                      <a:srgbClr val="F0F5FA"/>
                    </a:solidFill>
                  </a:tcPr>
                </a:tc>
                <a:tc>
                  <a:txBody>
                    <a:bodyPr wrap="square"/>
                    <a:lstStyle/>
                    <a:p>
                      <a:pPr algn="ctr"/>
                      <a:r>
                        <a:rPr sz="1100"/>
                        <a:t>지원</a:t>
                      </a:r>
                    </a:p>
                  </a:txBody>
                  <a:tcPr>
                    <a:solidFill>
                      <a:srgbClr val="F0F5FA"/>
                    </a:solidFill>
                  </a:tcPr>
                </a:tc>
              </a:tr>
              <a:tr h="274320">
                <a:tc>
                  <a:txBody>
                    <a:bodyPr wrap="square"/>
                    <a:lstStyle/>
                    <a:p>
                      <a:pPr algn="ctr"/>
                      <a:r>
                        <a:rPr sz="1100"/>
                        <a:t>산출물 관리 전략</a:t>
                      </a:r>
                    </a:p>
                  </a:txBody>
                  <a:tcPr>
                    <a:solidFill>
                      <a:srgbClr val="F0F5FA"/>
                    </a:solidFill>
                  </a:tcPr>
                </a:tc>
                <a:tc>
                  <a:txBody>
                    <a:bodyPr wrap="square"/>
                    <a:lstStyle/>
                    <a:p>
                      <a:pPr algn="ctr"/>
                      <a:r>
                        <a:rPr sz="1100"/>
                        <a:t>검토</a:t>
                      </a:r>
                    </a:p>
                  </a:txBody>
                  <a:tcPr>
                    <a:solidFill>
                      <a:srgbClr val="F0F5FA"/>
                    </a:solidFill>
                  </a:tcPr>
                </a:tc>
                <a:tc>
                  <a:txBody>
                    <a:bodyPr wrap="square"/>
                    <a:lstStyle/>
                    <a:p>
                      <a:pPr algn="ctr"/>
                      <a:r>
                        <a:rPr sz="1100"/>
                        <a:t>주관</a:t>
                      </a:r>
                    </a:p>
                  </a:txBody>
                  <a:tcPr>
                    <a:solidFill>
                      <a:srgbClr val="F0F5FA"/>
                    </a:solidFill>
                  </a:tcPr>
                </a:tc>
                <a:tc>
                  <a:txBody>
                    <a:bodyPr wrap="square"/>
                    <a:lstStyle/>
                    <a:p>
                      <a:pPr algn="ctr"/>
                      <a:r>
                        <a:rPr sz="1100"/>
                        <a:t>지원</a:t>
                      </a:r>
                    </a:p>
                  </a:txBody>
                  <a:tcPr>
                    <a:solidFill>
                      <a:srgbClr val="F0F5FA"/>
                    </a:solidFill>
                  </a:tcPr>
                </a:tc>
                <a:tc>
                  <a:txBody>
                    <a:bodyPr wrap="square"/>
                    <a:lstStyle/>
                    <a:p>
                      <a:pPr algn="ctr"/>
                      <a:r>
                        <a:rPr sz="1100"/>
                        <a:t>지원</a:t>
                      </a:r>
                    </a:p>
                  </a:txBody>
                  <a:tcPr>
                    <a:solidFill>
                      <a:srgbClr val="F0F5FA"/>
                    </a:solidFill>
                  </a:tcPr>
                </a:tc>
              </a:tr>
              <a:tr h="274320">
                <a:tc>
                  <a:txBody>
                    <a:bodyPr wrap="square"/>
                    <a:lstStyle/>
                    <a:p>
                      <a:pPr algn="ctr"/>
                      <a:r>
                        <a:rPr sz="1100"/>
                        <a:t>공정관리 자동화</a:t>
                      </a:r>
                    </a:p>
                  </a:txBody>
                  <a:tcPr>
                    <a:solidFill>
                      <a:srgbClr val="F0F5FA"/>
                    </a:solidFill>
                  </a:tcPr>
                </a:tc>
                <a:tc>
                  <a:txBody>
                    <a:bodyPr wrap="square"/>
                    <a:lstStyle/>
                    <a:p>
                      <a:pPr algn="ctr"/>
                      <a:r>
                        <a:rPr sz="1100"/>
                        <a:t>검토</a:t>
                      </a:r>
                    </a:p>
                  </a:txBody>
                  <a:tcPr>
                    <a:solidFill>
                      <a:srgbClr val="F0F5FA"/>
                    </a:solidFill>
                  </a:tcPr>
                </a:tc>
                <a:tc>
                  <a:txBody>
                    <a:bodyPr wrap="square"/>
                    <a:lstStyle/>
                    <a:p>
                      <a:pPr algn="ctr"/>
                      <a:r>
                        <a:rPr sz="1100"/>
                        <a:t>주관</a:t>
                      </a:r>
                    </a:p>
                  </a:txBody>
                  <a:tcPr>
                    <a:solidFill>
                      <a:srgbClr val="F0F5FA"/>
                    </a:solidFill>
                  </a:tcPr>
                </a:tc>
                <a:tc>
                  <a:txBody>
                    <a:bodyPr wrap="square"/>
                    <a:lstStyle/>
                    <a:p>
                      <a:pPr algn="ctr"/>
                      <a:r>
                        <a:rPr sz="1100"/>
                        <a:t>지원</a:t>
                      </a:r>
                    </a:p>
                  </a:txBody>
                  <a:tcPr>
                    <a:solidFill>
                      <a:srgbClr val="F0F5FA"/>
                    </a:solidFill>
                  </a:tcPr>
                </a:tc>
                <a:tc>
                  <a:txBody>
                    <a:bodyPr wrap="square"/>
                    <a:lstStyle/>
                    <a:p>
                      <a:pPr algn="ctr"/>
                      <a:r>
                        <a:rPr sz="1100"/>
                        <a:t>지원</a:t>
                      </a:r>
                    </a:p>
                  </a:txBody>
                  <a:tcPr>
                    <a:solidFill>
                      <a:srgbClr val="F0F5FA"/>
                    </a:solidFill>
                  </a:tcPr>
                </a:tc>
              </a:tr>
              <a:tr h="274320">
                <a:tc>
                  <a:txBody>
                    <a:bodyPr wrap="square"/>
                    <a:lstStyle/>
                    <a:p>
                      <a:pPr algn="ctr"/>
                      <a:r>
                        <a:rPr sz="1100"/>
                        <a:t>개발환경 최적화</a:t>
                      </a:r>
                    </a:p>
                  </a:txBody>
                  <a:tcPr>
                    <a:solidFill>
                      <a:srgbClr val="F0F5FA"/>
                    </a:solidFill>
                  </a:tcPr>
                </a:tc>
                <a:tc>
                  <a:txBody>
                    <a:bodyPr wrap="square"/>
                    <a:lstStyle/>
                    <a:p>
                      <a:pPr algn="ctr"/>
                      <a:r>
                        <a:rPr sz="1100"/>
                        <a:t>검토</a:t>
                      </a:r>
                    </a:p>
                  </a:txBody>
                  <a:tcPr>
                    <a:solidFill>
                      <a:srgbClr val="F0F5FA"/>
                    </a:solidFill>
                  </a:tcPr>
                </a:tc>
                <a:tc>
                  <a:txBody>
                    <a:bodyPr wrap="square"/>
                    <a:lstStyle/>
                    <a:p>
                      <a:pPr algn="ctr"/>
                      <a:r>
                        <a:rPr sz="1100"/>
                        <a:t>지원</a:t>
                      </a:r>
                    </a:p>
                  </a:txBody>
                  <a:tcPr>
                    <a:solidFill>
                      <a:srgbClr val="F0F5FA"/>
                    </a:solidFill>
                  </a:tcPr>
                </a:tc>
                <a:tc>
                  <a:txBody>
                    <a:bodyPr wrap="square"/>
                    <a:lstStyle/>
                    <a:p>
                      <a:pPr algn="ctr"/>
                      <a:r>
                        <a:rPr sz="1100"/>
                        <a:t>주관</a:t>
                      </a:r>
                    </a:p>
                  </a:txBody>
                  <a:tcPr>
                    <a:solidFill>
                      <a:srgbClr val="F0F5FA"/>
                    </a:solidFill>
                  </a:tcPr>
                </a:tc>
                <a:tc>
                  <a:txBody>
                    <a:bodyPr wrap="square"/>
                    <a:lstStyle/>
                    <a:p>
                      <a:pPr algn="ctr"/>
                      <a:r>
                        <a:rPr sz="1100"/>
                        <a:t>지원</a:t>
                      </a:r>
                    </a:p>
                  </a:txBody>
                  <a:tcPr>
                    <a:solidFill>
                      <a:srgbClr val="F0F5FA"/>
                    </a:solidFill>
                  </a:tcPr>
                </a:tc>
              </a:tr>
              <a:tr h="274320">
                <a:tc>
                  <a:txBody>
                    <a:bodyPr wrap="square"/>
                    <a:lstStyle/>
                    <a:p>
                      <a:pPr algn="ctr"/>
                      <a:r>
                        <a:rPr sz="1100"/>
                        <a:t>공통기능/API 정리</a:t>
                      </a:r>
                    </a:p>
                  </a:txBody>
                  <a:tcPr>
                    <a:solidFill>
                      <a:srgbClr val="F0F5FA"/>
                    </a:solidFill>
                  </a:tcPr>
                </a:tc>
                <a:tc>
                  <a:txBody>
                    <a:bodyPr wrap="square"/>
                    <a:lstStyle/>
                    <a:p>
                      <a:pPr algn="ctr"/>
                      <a:r>
                        <a:rPr sz="1100"/>
                        <a:t>검토</a:t>
                      </a:r>
                    </a:p>
                  </a:txBody>
                  <a:tcPr>
                    <a:solidFill>
                      <a:srgbClr val="F0F5FA"/>
                    </a:solidFill>
                  </a:tcPr>
                </a:tc>
                <a:tc>
                  <a:txBody>
                    <a:bodyPr wrap="square"/>
                    <a:lstStyle/>
                    <a:p>
                      <a:pPr algn="ctr"/>
                      <a:r>
                        <a:rPr sz="1100"/>
                        <a:t>지원</a:t>
                      </a:r>
                    </a:p>
                  </a:txBody>
                  <a:tcPr>
                    <a:solidFill>
                      <a:srgbClr val="F0F5FA"/>
                    </a:solidFill>
                  </a:tcPr>
                </a:tc>
                <a:tc>
                  <a:txBody>
                    <a:bodyPr wrap="square"/>
                    <a:lstStyle/>
                    <a:p>
                      <a:pPr algn="ctr"/>
                      <a:r>
                        <a:rPr sz="1100"/>
                        <a:t>주관</a:t>
                      </a:r>
                    </a:p>
                  </a:txBody>
                  <a:tcPr>
                    <a:solidFill>
                      <a:srgbClr val="F0F5FA"/>
                    </a:solidFill>
                  </a:tcPr>
                </a:tc>
                <a:tc>
                  <a:txBody>
                    <a:bodyPr wrap="square"/>
                    <a:lstStyle/>
                    <a:p>
                      <a:pPr algn="ctr"/>
                      <a:r>
                        <a:rPr sz="1100"/>
                        <a:t>지원</a:t>
                      </a:r>
                    </a:p>
                  </a:txBody>
                  <a:tcPr>
                    <a:solidFill>
                      <a:srgbClr val="F0F5FA"/>
                    </a:solidFill>
                  </a:tcPr>
                </a:tc>
              </a:tr>
              <a:tr h="274320">
                <a:tc>
                  <a:txBody>
                    <a:bodyPr wrap="square"/>
                    <a:lstStyle/>
                    <a:p>
                      <a:pPr algn="ctr"/>
                      <a:r>
                        <a:rPr sz="1100"/>
                        <a:t>컴포넌트 명세 최적화</a:t>
                      </a:r>
                    </a:p>
                  </a:txBody>
                  <a:tcPr>
                    <a:solidFill>
                      <a:srgbClr val="F0F5FA"/>
                    </a:solidFill>
                  </a:tcPr>
                </a:tc>
                <a:tc>
                  <a:txBody>
                    <a:bodyPr wrap="square"/>
                    <a:lstStyle/>
                    <a:p>
                      <a:pPr algn="ctr"/>
                      <a:r>
                        <a:rPr sz="1100"/>
                        <a:t>검토</a:t>
                      </a:r>
                    </a:p>
                  </a:txBody>
                  <a:tcPr>
                    <a:solidFill>
                      <a:srgbClr val="F0F5FA"/>
                    </a:solidFill>
                  </a:tcPr>
                </a:tc>
                <a:tc>
                  <a:txBody>
                    <a:bodyPr wrap="square"/>
                    <a:lstStyle/>
                    <a:p>
                      <a:pPr algn="ctr"/>
                      <a:r>
                        <a:rPr sz="1100"/>
                        <a:t>지원</a:t>
                      </a:r>
                    </a:p>
                  </a:txBody>
                  <a:tcPr>
                    <a:solidFill>
                      <a:srgbClr val="F0F5FA"/>
                    </a:solidFill>
                  </a:tcPr>
                </a:tc>
                <a:tc>
                  <a:txBody>
                    <a:bodyPr wrap="square"/>
                    <a:lstStyle/>
                    <a:p>
                      <a:pPr algn="ctr"/>
                      <a:r>
                        <a:rPr sz="1100"/>
                        <a:t>지원</a:t>
                      </a:r>
                    </a:p>
                  </a:txBody>
                  <a:tcPr>
                    <a:solidFill>
                      <a:srgbClr val="F0F5FA"/>
                    </a:solidFill>
                  </a:tcPr>
                </a:tc>
                <a:tc>
                  <a:txBody>
                    <a:bodyPr wrap="square"/>
                    <a:lstStyle/>
                    <a:p>
                      <a:pPr algn="ctr"/>
                      <a:r>
                        <a:rPr sz="1100"/>
                        <a:t>주관</a:t>
                      </a:r>
                    </a:p>
                  </a:txBody>
                  <a:tcPr>
                    <a:solidFill>
                      <a:srgbClr val="F0F5FA"/>
                    </a:solidFill>
                  </a:tcPr>
                </a:tc>
              </a:tr>
              <a:tr h="274320">
                <a:tc>
                  <a:txBody>
                    <a:bodyPr wrap="square"/>
                    <a:lstStyle/>
                    <a:p>
                      <a:pPr algn="ctr"/>
                      <a:r>
                        <a:rPr sz="1100"/>
                        <a:t>업무 테스트</a:t>
                      </a:r>
                    </a:p>
                  </a:txBody>
                  <a:tcPr>
                    <a:solidFill>
                      <a:srgbClr val="F0F5FA"/>
                    </a:solidFill>
                  </a:tcPr>
                </a:tc>
                <a:tc>
                  <a:txBody>
                    <a:bodyPr wrap="square"/>
                    <a:lstStyle/>
                    <a:p>
                      <a:pPr algn="ctr"/>
                      <a:r>
                        <a:rPr sz="1100"/>
                        <a:t>총괄</a:t>
                      </a:r>
                    </a:p>
                  </a:txBody>
                  <a:tcPr>
                    <a:solidFill>
                      <a:srgbClr val="F0F5FA"/>
                    </a:solidFill>
                  </a:tcPr>
                </a:tc>
                <a:tc>
                  <a:txBody>
                    <a:bodyPr wrap="square"/>
                    <a:lstStyle/>
                    <a:p>
                      <a:pPr algn="ctr"/>
                      <a:r>
                        <a:rPr sz="1100"/>
                        <a:t>지원</a:t>
                      </a:r>
                    </a:p>
                  </a:txBody>
                  <a:tcPr>
                    <a:solidFill>
                      <a:srgbClr val="F0F5FA"/>
                    </a:solidFill>
                  </a:tcPr>
                </a:tc>
                <a:tc>
                  <a:txBody>
                    <a:bodyPr wrap="square"/>
                    <a:lstStyle/>
                    <a:p>
                      <a:pPr algn="ctr"/>
                      <a:r>
                        <a:rPr sz="1100"/>
                        <a:t>해수호봇, RCMS</a:t>
                      </a:r>
                    </a:p>
                  </a:txBody>
                  <a:tcPr>
                    <a:solidFill>
                      <a:srgbClr val="F0F5FA"/>
                    </a:solidFill>
                  </a:tcPr>
                </a:tc>
                <a:tc>
                  <a:txBody>
                    <a:bodyPr wrap="square"/>
                    <a:lstStyle/>
                    <a:p>
                      <a:pPr algn="ctr"/>
                      <a:r>
                        <a:rPr sz="1100"/>
                        <a:t>운항관리, 항만보안심사</a:t>
                      </a:r>
                    </a:p>
                  </a:txBody>
                  <a:tcPr>
                    <a:solidFill>
                      <a:srgbClr val="F0F5FA"/>
                    </a:solidFill>
                  </a:tcPr>
                </a:tc>
              </a:tr>
              <a:tr h="274320">
                <a:tc>
                  <a:txBody>
                    <a:bodyPr wrap="square"/>
                    <a:lstStyle/>
                    <a:p>
                      <a:pPr algn="ctr"/>
                      <a:r>
                        <a:rPr sz="1100"/>
                        <a:t>성과 측정</a:t>
                      </a:r>
                    </a:p>
                  </a:txBody>
                  <a:tcPr>
                    <a:solidFill>
                      <a:srgbClr val="F0F5FA"/>
                    </a:solidFill>
                  </a:tcPr>
                </a:tc>
                <a:tc>
                  <a:txBody>
                    <a:bodyPr wrap="square"/>
                    <a:lstStyle/>
                    <a:p>
                      <a:pPr algn="ctr"/>
                      <a:r>
                        <a:rPr sz="1100"/>
                        <a:t>주관</a:t>
                      </a:r>
                    </a:p>
                  </a:txBody>
                  <a:tcPr>
                    <a:solidFill>
                      <a:srgbClr val="F0F5FA"/>
                    </a:solidFill>
                  </a:tcPr>
                </a:tc>
                <a:tc>
                  <a:txBody>
                    <a:bodyPr wrap="square"/>
                    <a:lstStyle/>
                    <a:p>
                      <a:pPr algn="ctr"/>
                      <a:r>
                        <a:rPr sz="1100"/>
                        <a:t>지원</a:t>
                      </a:r>
                    </a:p>
                  </a:txBody>
                  <a:tcPr>
                    <a:solidFill>
                      <a:srgbClr val="F0F5FA"/>
                    </a:solidFill>
                  </a:tcPr>
                </a:tc>
                <a:tc>
                  <a:txBody>
                    <a:bodyPr wrap="square"/>
                    <a:lstStyle/>
                    <a:p>
                      <a:pPr algn="ctr"/>
                      <a:r>
                        <a:rPr sz="1100"/>
                        <a:t>지원</a:t>
                      </a:r>
                    </a:p>
                  </a:txBody>
                  <a:tcPr>
                    <a:solidFill>
                      <a:srgbClr val="F0F5FA"/>
                    </a:solidFill>
                  </a:tcPr>
                </a:tc>
                <a:tc>
                  <a:txBody>
                    <a:bodyPr wrap="square"/>
                    <a:lstStyle/>
                    <a:p>
                      <a:pPr algn="ctr"/>
                      <a:r>
                        <a:rPr sz="1100"/>
                        <a:t>지원</a:t>
                      </a:r>
                    </a:p>
                  </a:txBody>
                  <a:tcPr>
                    <a:solidFill>
                      <a:srgbClr val="F0F5FA"/>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2163BB"/>
                </a:solidFill>
              </a:defRPr>
            </a:pPr>
            <a:r>
              <a:t>10. 기대 효과</a:t>
            </a:r>
          </a:p>
        </p:txBody>
      </p:sp>
      <p:sp>
        <p:nvSpPr>
          <p:cNvPr id="3" name="TextBox 2"/>
          <p:cNvSpPr txBox="1"/>
          <p:nvPr/>
        </p:nvSpPr>
        <p:spPr>
          <a:xfrm>
            <a:off x="457200" y="1143000"/>
            <a:ext cx="11277295" cy="548640"/>
          </a:xfrm>
          <a:prstGeom prst="rect">
            <a:avLst/>
          </a:prstGeom>
          <a:noFill/>
        </p:spPr>
        <p:txBody>
          <a:bodyPr wrap="none">
            <a:spAutoFit/>
          </a:bodyPr>
          <a:lstStyle/>
          <a:p>
            <a:pPr>
              <a:defRPr sz="1800" b="1">
                <a:solidFill>
                  <a:srgbClr val="2163BB"/>
                </a:solidFill>
              </a:defRPr>
            </a:pPr>
            <a:r>
              <a:t>10.1 정량 효과</a:t>
            </a:r>
          </a:p>
        </p:txBody>
      </p:sp>
      <p:graphicFrame>
        <p:nvGraphicFramePr>
          <p:cNvPr id="4" name="Table 3"/>
          <p:cNvGraphicFramePr>
            <a:graphicFrameLocks noGrp="1"/>
          </p:cNvGraphicFramePr>
          <p:nvPr/>
        </p:nvGraphicFramePr>
        <p:xfrm>
          <a:off x="457200" y="1737360"/>
          <a:ext cx="11277294" cy="2743200"/>
        </p:xfrm>
        <a:graphic>
          <a:graphicData uri="http://schemas.openxmlformats.org/drawingml/2006/table">
            <a:tbl>
              <a:tblPr firstRow="1" bandRow="1">
                <a:tableStyleId>{5C22544A-7EE6-4342-B048-85BDC9FD1C3A}</a:tableStyleId>
              </a:tblPr>
              <a:tblGrid>
                <a:gridCol w="5638647"/>
                <a:gridCol w="5638647"/>
              </a:tblGrid>
              <a:tr h="2743200">
                <a:tc>
                  <a:txBody>
                    <a:bodyPr wrap="square"/>
                    <a:lstStyle/>
                    <a:p>
                      <a:pPr algn="ctr"/>
                      <a:r>
                        <a:rPr sz="1100" b="1">
                          <a:solidFill>
                            <a:srgbClr val="FFFFFF"/>
                          </a:solidFill>
                        </a:rPr>
                        <a:t>구분</a:t>
                      </a:r>
                    </a:p>
                  </a:txBody>
                  <a:tcPr>
                    <a:solidFill>
                      <a:srgbClr val="2163BB"/>
                    </a:solidFill>
                  </a:tcPr>
                </a:tc>
                <a:tc>
                  <a:txBody>
                    <a:bodyPr wrap="square"/>
                    <a:lstStyle/>
                    <a:p>
                      <a:pPr algn="ctr"/>
                      <a:r>
                        <a:rPr sz="1100" b="1">
                          <a:solidFill>
                            <a:srgbClr val="FFFFFF"/>
                          </a:solidFill>
                        </a:rPr>
                        <a:t>기대 효과</a:t>
                      </a:r>
                    </a:p>
                  </a:txBody>
                  <a:tcPr>
                    <a:solidFill>
                      <a:srgbClr val="2163BB"/>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graphicFrame>
        <p:nvGraphicFramePr>
          <p:cNvPr id="3" name="Table 2"/>
          <p:cNvGraphicFramePr>
            <a:graphicFrameLocks noGrp="1"/>
          </p:cNvGraphicFramePr>
          <p:nvPr/>
        </p:nvGraphicFramePr>
        <p:xfrm>
          <a:off x="457200" y="822960"/>
          <a:ext cx="11277294" cy="2743200"/>
        </p:xfrm>
        <a:graphic>
          <a:graphicData uri="http://schemas.openxmlformats.org/drawingml/2006/table">
            <a:tbl>
              <a:tblPr firstRow="1" bandRow="1">
                <a:tableStyleId>{5C22544A-7EE6-4342-B048-85BDC9FD1C3A}</a:tableStyleId>
              </a:tblPr>
              <a:tblGrid>
                <a:gridCol w="5638647"/>
                <a:gridCol w="5638647"/>
              </a:tblGrid>
              <a:tr h="457200">
                <a:tc>
                  <a:txBody>
                    <a:bodyPr wrap="square"/>
                    <a:lstStyle/>
                    <a:p>
                      <a:pPr algn="ctr"/>
                      <a:r>
                        <a:rPr sz="1100" b="1">
                          <a:solidFill>
                            <a:srgbClr val="FFFFFF"/>
                          </a:solidFill>
                        </a:rPr>
                        <a:t>문서 취합 시간</a:t>
                      </a:r>
                    </a:p>
                  </a:txBody>
                  <a:tcPr>
                    <a:solidFill>
                      <a:srgbClr val="2163BB"/>
                    </a:solidFill>
                  </a:tcPr>
                </a:tc>
                <a:tc>
                  <a:txBody>
                    <a:bodyPr wrap="square"/>
                    <a:lstStyle/>
                    <a:p>
                      <a:pPr algn="ctr"/>
                      <a:r>
                        <a:rPr sz="1100" b="1">
                          <a:solidFill>
                            <a:srgbClr val="FFFFFF"/>
                          </a:solidFill>
                        </a:rPr>
                        <a:t>Confluence/Jira 자동 취합으로 단축</a:t>
                      </a:r>
                    </a:p>
                  </a:txBody>
                  <a:tcPr>
                    <a:solidFill>
                      <a:srgbClr val="2163BB"/>
                    </a:solidFill>
                  </a:tcPr>
                </a:tc>
              </a:tr>
              <a:tr h="457200">
                <a:tc>
                  <a:txBody>
                    <a:bodyPr wrap="square"/>
                    <a:lstStyle/>
                    <a:p>
                      <a:pPr algn="ctr"/>
                      <a:r>
                        <a:rPr sz="1100"/>
                        <a:t>문서 검토 시간</a:t>
                      </a:r>
                    </a:p>
                  </a:txBody>
                  <a:tcPr>
                    <a:solidFill>
                      <a:srgbClr val="F0F5FA"/>
                    </a:solidFill>
                  </a:tcPr>
                </a:tc>
                <a:tc>
                  <a:txBody>
                    <a:bodyPr wrap="square"/>
                    <a:lstStyle/>
                    <a:p>
                      <a:pPr algn="ctr"/>
                      <a:r>
                        <a:rPr sz="1100"/>
                        <a:t>Claude 기반 사전 검토로 단축</a:t>
                      </a:r>
                    </a:p>
                  </a:txBody>
                  <a:tcPr>
                    <a:solidFill>
                      <a:srgbClr val="F0F5FA"/>
                    </a:solidFill>
                  </a:tcPr>
                </a:tc>
              </a:tr>
              <a:tr h="457200">
                <a:tc>
                  <a:txBody>
                    <a:bodyPr wrap="square"/>
                    <a:lstStyle/>
                    <a:p>
                      <a:pPr algn="ctr"/>
                      <a:r>
                        <a:rPr sz="1100"/>
                        <a:t>보고서 작성 시간</a:t>
                      </a:r>
                    </a:p>
                  </a:txBody>
                  <a:tcPr>
                    <a:solidFill>
                      <a:srgbClr val="F0F5FA"/>
                    </a:solidFill>
                  </a:tcPr>
                </a:tc>
                <a:tc>
                  <a:txBody>
                    <a:bodyPr wrap="square"/>
                    <a:lstStyle/>
                    <a:p>
                      <a:pPr algn="ctr"/>
                      <a:r>
                        <a:rPr sz="1100"/>
                        <a:t>주간·월간보고 자동 생성으로 단축</a:t>
                      </a:r>
                    </a:p>
                  </a:txBody>
                  <a:tcPr>
                    <a:solidFill>
                      <a:srgbClr val="F0F5FA"/>
                    </a:solidFill>
                  </a:tcPr>
                </a:tc>
              </a:tr>
              <a:tr h="457200">
                <a:tc>
                  <a:txBody>
                    <a:bodyPr wrap="square"/>
                    <a:lstStyle/>
                    <a:p>
                      <a:pPr algn="ctr"/>
                      <a:r>
                        <a:rPr sz="1100"/>
                        <a:t>요구사항 추적 누락</a:t>
                      </a:r>
                    </a:p>
                  </a:txBody>
                  <a:tcPr>
                    <a:solidFill>
                      <a:srgbClr val="F0F5FA"/>
                    </a:solidFill>
                  </a:tcPr>
                </a:tc>
                <a:tc>
                  <a:txBody>
                    <a:bodyPr wrap="square"/>
                    <a:lstStyle/>
                    <a:p>
                      <a:pPr algn="ctr"/>
                      <a:r>
                        <a:rPr sz="1100"/>
                        <a:t>AI 기반 추적표 점검으로 감소</a:t>
                      </a:r>
                    </a:p>
                  </a:txBody>
                  <a:tcPr>
                    <a:solidFill>
                      <a:srgbClr val="F0F5FA"/>
                    </a:solidFill>
                  </a:tcPr>
                </a:tc>
              </a:tr>
              <a:tr h="457200">
                <a:tc>
                  <a:txBody>
                    <a:bodyPr wrap="square"/>
                    <a:lstStyle/>
                    <a:p>
                      <a:pPr algn="ctr"/>
                      <a:r>
                        <a:rPr sz="1100"/>
                        <a:t>공정률 왜곡</a:t>
                      </a:r>
                    </a:p>
                  </a:txBody>
                  <a:tcPr>
                    <a:solidFill>
                      <a:srgbClr val="F0F5FA"/>
                    </a:solidFill>
                  </a:tcPr>
                </a:tc>
                <a:tc>
                  <a:txBody>
                    <a:bodyPr wrap="square"/>
                    <a:lstStyle/>
                    <a:p>
                      <a:pPr algn="ctr"/>
                      <a:r>
                        <a:rPr sz="1100"/>
                        <a:t>TDD 통과 기준 기반 산정으로 감소</a:t>
                      </a:r>
                    </a:p>
                  </a:txBody>
                  <a:tcPr>
                    <a:solidFill>
                      <a:srgbClr val="F0F5FA"/>
                    </a:solidFill>
                  </a:tcPr>
                </a:tc>
              </a:tr>
              <a:tr h="457200">
                <a:tc>
                  <a:txBody>
                    <a:bodyPr wrap="square"/>
                    <a:lstStyle/>
                    <a:p>
                      <a:pPr algn="ctr"/>
                      <a:r>
                        <a:rPr sz="1100"/>
                        <a:t>오픈 후 오류</a:t>
                      </a:r>
                    </a:p>
                  </a:txBody>
                  <a:tcPr>
                    <a:solidFill>
                      <a:srgbClr val="F0F5FA"/>
                    </a:solidFill>
                  </a:tcPr>
                </a:tc>
                <a:tc>
                  <a:txBody>
                    <a:bodyPr wrap="square"/>
                    <a:lstStyle/>
                    <a:p>
                      <a:pPr algn="ctr"/>
                      <a:r>
                        <a:rPr sz="1100"/>
                        <a:t>프로토타입·TDD 기반 개발로 감소</a:t>
                      </a:r>
                    </a:p>
                  </a:txBody>
                  <a:tcPr>
                    <a:solidFill>
                      <a:srgbClr val="F0F5FA"/>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548640"/>
          </a:xfrm>
          <a:prstGeom prst="rect">
            <a:avLst/>
          </a:prstGeom>
          <a:noFill/>
        </p:spPr>
        <p:txBody>
          <a:bodyPr wrap="none">
            <a:spAutoFit/>
          </a:bodyPr>
          <a:lstStyle/>
          <a:p>
            <a:pPr>
              <a:defRPr sz="1800" b="1">
                <a:solidFill>
                  <a:srgbClr val="2163BB"/>
                </a:solidFill>
              </a:defRPr>
            </a:pPr>
            <a:r>
              <a:t>10.2 정성 효과</a:t>
            </a:r>
          </a:p>
        </p:txBody>
      </p:sp>
      <p:graphicFrame>
        <p:nvGraphicFramePr>
          <p:cNvPr id="3" name="Table 2"/>
          <p:cNvGraphicFramePr>
            <a:graphicFrameLocks noGrp="1"/>
          </p:cNvGraphicFramePr>
          <p:nvPr/>
        </p:nvGraphicFramePr>
        <p:xfrm>
          <a:off x="457200" y="960120"/>
          <a:ext cx="11277294" cy="2743200"/>
        </p:xfrm>
        <a:graphic>
          <a:graphicData uri="http://schemas.openxmlformats.org/drawingml/2006/table">
            <a:tbl>
              <a:tblPr firstRow="1" bandRow="1">
                <a:tableStyleId>{5C22544A-7EE6-4342-B048-85BDC9FD1C3A}</a:tableStyleId>
              </a:tblPr>
              <a:tblGrid>
                <a:gridCol w="5638647"/>
                <a:gridCol w="5638647"/>
              </a:tblGrid>
              <a:tr h="2743200">
                <a:tc>
                  <a:txBody>
                    <a:bodyPr wrap="square"/>
                    <a:lstStyle/>
                    <a:p>
                      <a:pPr algn="ctr"/>
                      <a:r>
                        <a:rPr sz="1100" b="1">
                          <a:solidFill>
                            <a:srgbClr val="FFFFFF"/>
                          </a:solidFill>
                        </a:rPr>
                        <a:t>구분</a:t>
                      </a:r>
                    </a:p>
                  </a:txBody>
                  <a:tcPr>
                    <a:solidFill>
                      <a:srgbClr val="2163BB"/>
                    </a:solidFill>
                  </a:tcPr>
                </a:tc>
                <a:tc>
                  <a:txBody>
                    <a:bodyPr wrap="square"/>
                    <a:lstStyle/>
                    <a:p>
                      <a:pPr algn="ctr"/>
                      <a:r>
                        <a:rPr sz="1100" b="1">
                          <a:solidFill>
                            <a:srgbClr val="FFFFFF"/>
                          </a:solidFill>
                        </a:rPr>
                        <a:t>기대 효과</a:t>
                      </a:r>
                    </a:p>
                  </a:txBody>
                  <a:tcPr>
                    <a:solidFill>
                      <a:srgbClr val="2163BB"/>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graphicFrame>
        <p:nvGraphicFramePr>
          <p:cNvPr id="3" name="Table 2"/>
          <p:cNvGraphicFramePr>
            <a:graphicFrameLocks noGrp="1"/>
          </p:cNvGraphicFramePr>
          <p:nvPr/>
        </p:nvGraphicFramePr>
        <p:xfrm>
          <a:off x="457200" y="822960"/>
          <a:ext cx="11277294" cy="2743200"/>
        </p:xfrm>
        <a:graphic>
          <a:graphicData uri="http://schemas.openxmlformats.org/drawingml/2006/table">
            <a:tbl>
              <a:tblPr firstRow="1" bandRow="1">
                <a:tableStyleId>{5C22544A-7EE6-4342-B048-85BDC9FD1C3A}</a:tableStyleId>
              </a:tblPr>
              <a:tblGrid>
                <a:gridCol w="5638647"/>
                <a:gridCol w="5638647"/>
              </a:tblGrid>
              <a:tr h="457200">
                <a:tc>
                  <a:txBody>
                    <a:bodyPr wrap="square"/>
                    <a:lstStyle/>
                    <a:p>
                      <a:pPr algn="ctr"/>
                      <a:r>
                        <a:rPr sz="1100" b="1">
                          <a:solidFill>
                            <a:srgbClr val="FFFFFF"/>
                          </a:solidFill>
                        </a:rPr>
                        <a:t>프로젝트 투명성</a:t>
                      </a:r>
                    </a:p>
                  </a:txBody>
                  <a:tcPr>
                    <a:solidFill>
                      <a:srgbClr val="2163BB"/>
                    </a:solidFill>
                  </a:tcPr>
                </a:tc>
                <a:tc>
                  <a:txBody>
                    <a:bodyPr wrap="square"/>
                    <a:lstStyle/>
                    <a:p>
                      <a:pPr algn="ctr"/>
                      <a:r>
                        <a:rPr sz="1100" b="1">
                          <a:solidFill>
                            <a:srgbClr val="FFFFFF"/>
                          </a:solidFill>
                        </a:rPr>
                        <a:t>Jira 기반 실시간 공정 확인</a:t>
                      </a:r>
                    </a:p>
                  </a:txBody>
                  <a:tcPr>
                    <a:solidFill>
                      <a:srgbClr val="2163BB"/>
                    </a:solidFill>
                  </a:tcPr>
                </a:tc>
              </a:tr>
              <a:tr h="457200">
                <a:tc>
                  <a:txBody>
                    <a:bodyPr wrap="square"/>
                    <a:lstStyle/>
                    <a:p>
                      <a:pPr algn="ctr"/>
                      <a:r>
                        <a:rPr sz="1100"/>
                        <a:t>감리 대응력</a:t>
                      </a:r>
                    </a:p>
                  </a:txBody>
                  <a:tcPr>
                    <a:solidFill>
                      <a:srgbClr val="F0F5FA"/>
                    </a:solidFill>
                  </a:tcPr>
                </a:tc>
                <a:tc>
                  <a:txBody>
                    <a:bodyPr wrap="square"/>
                    <a:lstStyle/>
                    <a:p>
                      <a:pPr algn="ctr"/>
                      <a:r>
                        <a:rPr sz="1100"/>
                        <a:t>요구사항 추적성과 산출물 품질 향상</a:t>
                      </a:r>
                    </a:p>
                  </a:txBody>
                  <a:tcPr>
                    <a:solidFill>
                      <a:srgbClr val="F0F5FA"/>
                    </a:solidFill>
                  </a:tcPr>
                </a:tc>
              </a:tr>
              <a:tr h="457200">
                <a:tc>
                  <a:txBody>
                    <a:bodyPr wrap="square"/>
                    <a:lstStyle/>
                    <a:p>
                      <a:pPr algn="ctr"/>
                      <a:r>
                        <a:rPr sz="1100"/>
                        <a:t>개발 품질</a:t>
                      </a:r>
                    </a:p>
                  </a:txBody>
                  <a:tcPr>
                    <a:solidFill>
                      <a:srgbClr val="F0F5FA"/>
                    </a:solidFill>
                  </a:tcPr>
                </a:tc>
                <a:tc>
                  <a:txBody>
                    <a:bodyPr wrap="square"/>
                    <a:lstStyle/>
                    <a:p>
                      <a:pPr algn="ctr"/>
                      <a:r>
                        <a:rPr sz="1100"/>
                        <a:t>명확한 요구사항과 테스트 기준 기반 구현</a:t>
                      </a:r>
                    </a:p>
                  </a:txBody>
                  <a:tcPr>
                    <a:solidFill>
                      <a:srgbClr val="F0F5FA"/>
                    </a:solidFill>
                  </a:tcPr>
                </a:tc>
              </a:tr>
              <a:tr h="457200">
                <a:tc>
                  <a:txBody>
                    <a:bodyPr wrap="square"/>
                    <a:lstStyle/>
                    <a:p>
                      <a:pPr algn="ctr"/>
                      <a:r>
                        <a:rPr sz="1100"/>
                        <a:t>협업 효율</a:t>
                      </a:r>
                    </a:p>
                  </a:txBody>
                  <a:tcPr>
                    <a:solidFill>
                      <a:srgbClr val="F0F5FA"/>
                    </a:solidFill>
                  </a:tcPr>
                </a:tc>
                <a:tc>
                  <a:txBody>
                    <a:bodyPr wrap="square"/>
                    <a:lstStyle/>
                    <a:p>
                      <a:pPr algn="ctr"/>
                      <a:r>
                        <a:rPr sz="1100"/>
                        <a:t>Slack/Jira/Confluence 연계로 소통 비용 감소</a:t>
                      </a:r>
                    </a:p>
                  </a:txBody>
                  <a:tcPr>
                    <a:solidFill>
                      <a:srgbClr val="F0F5FA"/>
                    </a:solidFill>
                  </a:tcPr>
                </a:tc>
              </a:tr>
              <a:tr h="457200">
                <a:tc>
                  <a:txBody>
                    <a:bodyPr wrap="square"/>
                    <a:lstStyle/>
                    <a:p>
                      <a:pPr algn="ctr"/>
                      <a:r>
                        <a:rPr sz="1100"/>
                        <a:t>업무 표준화</a:t>
                      </a:r>
                    </a:p>
                  </a:txBody>
                  <a:tcPr>
                    <a:solidFill>
                      <a:srgbClr val="F0F5FA"/>
                    </a:solidFill>
                  </a:tcPr>
                </a:tc>
                <a:tc>
                  <a:txBody>
                    <a:bodyPr wrap="square"/>
                    <a:lstStyle/>
                    <a:p>
                      <a:pPr algn="ctr"/>
                      <a:r>
                        <a:rPr sz="1100"/>
                        <a:t>역할별 룰과 워크플로우 정착</a:t>
                      </a:r>
                    </a:p>
                  </a:txBody>
                  <a:tcPr>
                    <a:solidFill>
                      <a:srgbClr val="F0F5FA"/>
                    </a:solidFill>
                  </a:tcPr>
                </a:tc>
              </a:tr>
              <a:tr h="457200">
                <a:tc>
                  <a:txBody>
                    <a:bodyPr wrap="square"/>
                    <a:lstStyle/>
                    <a:p>
                      <a:pPr algn="ctr"/>
                      <a:r>
                        <a:rPr sz="1100"/>
                        <a:t>AI 활용 수준 향상</a:t>
                      </a:r>
                    </a:p>
                  </a:txBody>
                  <a:tcPr>
                    <a:solidFill>
                      <a:srgbClr val="F0F5FA"/>
                    </a:solidFill>
                  </a:tcPr>
                </a:tc>
                <a:tc>
                  <a:txBody>
                    <a:bodyPr wrap="square"/>
                    <a:lstStyle/>
                    <a:p>
                      <a:pPr algn="ctr"/>
                      <a:r>
                        <a:rPr sz="1100"/>
                        <a:t>단순 코딩 보조에서 프로젝트 관리 자동화로 확장</a:t>
                      </a:r>
                    </a:p>
                  </a:txBody>
                  <a:tcPr>
                    <a:solidFill>
                      <a:srgbClr val="F0F5FA"/>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2163BB"/>
                </a:solidFill>
              </a:defRPr>
            </a:pPr>
            <a:r>
              <a:t>11. 단계별 추진 계획</a:t>
            </a:r>
          </a:p>
        </p:txBody>
      </p:sp>
      <p:sp>
        <p:nvSpPr>
          <p:cNvPr id="3" name="TextBox 2"/>
          <p:cNvSpPr txBox="1"/>
          <p:nvPr/>
        </p:nvSpPr>
        <p:spPr>
          <a:xfrm>
            <a:off x="457200" y="1143000"/>
            <a:ext cx="11277295" cy="548640"/>
          </a:xfrm>
          <a:prstGeom prst="rect">
            <a:avLst/>
          </a:prstGeom>
          <a:noFill/>
        </p:spPr>
        <p:txBody>
          <a:bodyPr wrap="none">
            <a:spAutoFit/>
          </a:bodyPr>
          <a:lstStyle/>
          <a:p>
            <a:pPr>
              <a:defRPr sz="1800" b="1">
                <a:solidFill>
                  <a:srgbClr val="2163BB"/>
                </a:solidFill>
              </a:defRPr>
            </a:pPr>
            <a:r>
              <a:t>11.1 1단계: 기반 구축</a:t>
            </a:r>
          </a:p>
        </p:txBody>
      </p:sp>
      <p:graphicFrame>
        <p:nvGraphicFramePr>
          <p:cNvPr id="4" name="Table 3"/>
          <p:cNvGraphicFramePr>
            <a:graphicFrameLocks noGrp="1"/>
          </p:cNvGraphicFramePr>
          <p:nvPr/>
        </p:nvGraphicFramePr>
        <p:xfrm>
          <a:off x="457200" y="1737360"/>
          <a:ext cx="11277294" cy="2743200"/>
        </p:xfrm>
        <a:graphic>
          <a:graphicData uri="http://schemas.openxmlformats.org/drawingml/2006/table">
            <a:tbl>
              <a:tblPr firstRow="1" bandRow="1">
                <a:tableStyleId>{5C22544A-7EE6-4342-B048-85BDC9FD1C3A}</a:tableStyleId>
              </a:tblPr>
              <a:tblGrid>
                <a:gridCol w="5638647"/>
                <a:gridCol w="5638647"/>
              </a:tblGrid>
              <a:tr h="2743200">
                <a:tc>
                  <a:txBody>
                    <a:bodyPr wrap="square"/>
                    <a:lstStyle/>
                    <a:p>
                      <a:pPr algn="ctr"/>
                      <a:r>
                        <a:rPr sz="1100" b="1">
                          <a:solidFill>
                            <a:srgbClr val="FFFFFF"/>
                          </a:solidFill>
                        </a:rPr>
                        <a:t>항목</a:t>
                      </a:r>
                    </a:p>
                  </a:txBody>
                  <a:tcPr>
                    <a:solidFill>
                      <a:srgbClr val="2163BB"/>
                    </a:solidFill>
                  </a:tcPr>
                </a:tc>
                <a:tc>
                  <a:txBody>
                    <a:bodyPr wrap="square"/>
                    <a:lstStyle/>
                    <a:p>
                      <a:pPr algn="ctr"/>
                      <a:r>
                        <a:rPr sz="1100" b="1">
                          <a:solidFill>
                            <a:srgbClr val="FFFFFF"/>
                          </a:solidFill>
                        </a:rPr>
                        <a:t>내용</a:t>
                      </a:r>
                    </a:p>
                  </a:txBody>
                  <a:tcPr>
                    <a:solidFill>
                      <a:srgbClr val="2163BB"/>
                    </a:solidFill>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graphicFrame>
        <p:nvGraphicFramePr>
          <p:cNvPr id="3" name="Table 2"/>
          <p:cNvGraphicFramePr>
            <a:graphicFrameLocks noGrp="1"/>
          </p:cNvGraphicFramePr>
          <p:nvPr/>
        </p:nvGraphicFramePr>
        <p:xfrm>
          <a:off x="457200" y="822960"/>
          <a:ext cx="11277294" cy="2743200"/>
        </p:xfrm>
        <a:graphic>
          <a:graphicData uri="http://schemas.openxmlformats.org/drawingml/2006/table">
            <a:tbl>
              <a:tblPr firstRow="1" bandRow="1">
                <a:tableStyleId>{5C22544A-7EE6-4342-B048-85BDC9FD1C3A}</a:tableStyleId>
              </a:tblPr>
              <a:tblGrid>
                <a:gridCol w="5638647"/>
                <a:gridCol w="5638647"/>
              </a:tblGrid>
              <a:tr h="548640">
                <a:tc>
                  <a:txBody>
                    <a:bodyPr wrap="square"/>
                    <a:lstStyle/>
                    <a:p>
                      <a:pPr algn="ctr"/>
                      <a:r>
                        <a:rPr sz="1100" b="1">
                          <a:solidFill>
                            <a:srgbClr val="FFFFFF"/>
                          </a:solidFill>
                        </a:rPr>
                        <a:t>도구 구성</a:t>
                      </a:r>
                    </a:p>
                  </a:txBody>
                  <a:tcPr>
                    <a:solidFill>
                      <a:srgbClr val="2163BB"/>
                    </a:solidFill>
                  </a:tcPr>
                </a:tc>
                <a:tc>
                  <a:txBody>
                    <a:bodyPr wrap="square"/>
                    <a:lstStyle/>
                    <a:p>
                      <a:pPr algn="ctr"/>
                      <a:r>
                        <a:rPr sz="1100" b="1">
                          <a:solidFill>
                            <a:srgbClr val="FFFFFF"/>
                          </a:solidFill>
                        </a:rPr>
                        <a:t>Jira, Confluence, Slack, Claude 기본 환경 구성</a:t>
                      </a:r>
                    </a:p>
                  </a:txBody>
                  <a:tcPr>
                    <a:solidFill>
                      <a:srgbClr val="2163BB"/>
                    </a:solidFill>
                  </a:tcPr>
                </a:tc>
              </a:tr>
              <a:tr h="548640">
                <a:tc>
                  <a:txBody>
                    <a:bodyPr wrap="square"/>
                    <a:lstStyle/>
                    <a:p>
                      <a:pPr algn="ctr"/>
                      <a:r>
                        <a:rPr sz="1100"/>
                        <a:t>문서 템플릿</a:t>
                      </a:r>
                    </a:p>
                  </a:txBody>
                  <a:tcPr>
                    <a:solidFill>
                      <a:srgbClr val="F0F5FA"/>
                    </a:solidFill>
                  </a:tcPr>
                </a:tc>
                <a:tc>
                  <a:txBody>
                    <a:bodyPr wrap="square"/>
                    <a:lstStyle/>
                    <a:p>
                      <a:pPr algn="ctr"/>
                      <a:r>
                        <a:rPr sz="1100"/>
                        <a:t>정부기관 산출물 템플릿 등록</a:t>
                      </a:r>
                    </a:p>
                  </a:txBody>
                  <a:tcPr>
                    <a:solidFill>
                      <a:srgbClr val="F0F5FA"/>
                    </a:solidFill>
                  </a:tcPr>
                </a:tc>
              </a:tr>
              <a:tr h="548640">
                <a:tc>
                  <a:txBody>
                    <a:bodyPr wrap="square"/>
                    <a:lstStyle/>
                    <a:p>
                      <a:pPr algn="ctr"/>
                      <a:r>
                        <a:rPr sz="1100"/>
                        <a:t>Jira 구조</a:t>
                      </a:r>
                    </a:p>
                  </a:txBody>
                  <a:tcPr>
                    <a:solidFill>
                      <a:srgbClr val="F0F5FA"/>
                    </a:solidFill>
                  </a:tcPr>
                </a:tc>
                <a:tc>
                  <a:txBody>
                    <a:bodyPr wrap="square"/>
                    <a:lstStyle/>
                    <a:p>
                      <a:pPr algn="ctr"/>
                      <a:r>
                        <a:rPr sz="1100"/>
                        <a:t>프로젝트, Issue Type, Workflow, Custom Field 설계</a:t>
                      </a:r>
                    </a:p>
                  </a:txBody>
                  <a:tcPr>
                    <a:solidFill>
                      <a:srgbClr val="F0F5FA"/>
                    </a:solidFill>
                  </a:tcPr>
                </a:tc>
              </a:tr>
              <a:tr h="548640">
                <a:tc>
                  <a:txBody>
                    <a:bodyPr wrap="square"/>
                    <a:lstStyle/>
                    <a:p>
                      <a:pPr algn="ctr"/>
                      <a:r>
                        <a:rPr sz="1100"/>
                        <a:t>Confluence 구조</a:t>
                      </a:r>
                    </a:p>
                  </a:txBody>
                  <a:tcPr>
                    <a:solidFill>
                      <a:srgbClr val="F0F5FA"/>
                    </a:solidFill>
                  </a:tcPr>
                </a:tc>
                <a:tc>
                  <a:txBody>
                    <a:bodyPr wrap="square"/>
                    <a:lstStyle/>
                    <a:p>
                      <a:pPr algn="ctr"/>
                      <a:r>
                        <a:rPr sz="1100"/>
                        <a:t>산출물 Page Tree 및 AI Context 영역 구성</a:t>
                      </a:r>
                    </a:p>
                  </a:txBody>
                  <a:tcPr>
                    <a:solidFill>
                      <a:srgbClr val="F0F5FA"/>
                    </a:solidFill>
                  </a:tcPr>
                </a:tc>
              </a:tr>
              <a:tr h="548640">
                <a:tc>
                  <a:txBody>
                    <a:bodyPr wrap="square"/>
                    <a:lstStyle/>
                    <a:p>
                      <a:pPr algn="ctr"/>
                      <a:r>
                        <a:rPr sz="1100"/>
                        <a:t>Slack 채널</a:t>
                      </a:r>
                    </a:p>
                  </a:txBody>
                  <a:tcPr>
                    <a:solidFill>
                      <a:srgbClr val="F0F5FA"/>
                    </a:solidFill>
                  </a:tcPr>
                </a:tc>
                <a:tc>
                  <a:txBody>
                    <a:bodyPr wrap="square"/>
                    <a:lstStyle/>
                    <a:p>
                      <a:pPr algn="ctr"/>
                      <a:r>
                        <a:rPr sz="1100"/>
                        <a:t>문서 요청, 검토, 보고, 개발, 이슈 채널 구성</a:t>
                      </a:r>
                    </a:p>
                  </a:txBody>
                  <a:tcPr>
                    <a:solidFill>
                      <a:srgbClr val="F0F5FA"/>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548640"/>
          </a:xfrm>
          <a:prstGeom prst="rect">
            <a:avLst/>
          </a:prstGeom>
          <a:noFill/>
        </p:spPr>
        <p:txBody>
          <a:bodyPr wrap="none">
            <a:spAutoFit/>
          </a:bodyPr>
          <a:lstStyle/>
          <a:p>
            <a:pPr>
              <a:defRPr sz="1800" b="1">
                <a:solidFill>
                  <a:srgbClr val="2163BB"/>
                </a:solidFill>
              </a:defRPr>
            </a:pPr>
            <a:r>
              <a:t>11.2 2단계: 문서·요구사항 자동화</a:t>
            </a:r>
          </a:p>
        </p:txBody>
      </p:sp>
      <p:graphicFrame>
        <p:nvGraphicFramePr>
          <p:cNvPr id="3" name="Table 2"/>
          <p:cNvGraphicFramePr>
            <a:graphicFrameLocks noGrp="1"/>
          </p:cNvGraphicFramePr>
          <p:nvPr/>
        </p:nvGraphicFramePr>
        <p:xfrm>
          <a:off x="457200" y="960120"/>
          <a:ext cx="11277294" cy="2743200"/>
        </p:xfrm>
        <a:graphic>
          <a:graphicData uri="http://schemas.openxmlformats.org/drawingml/2006/table">
            <a:tbl>
              <a:tblPr firstRow="1" bandRow="1">
                <a:tableStyleId>{5C22544A-7EE6-4342-B048-85BDC9FD1C3A}</a:tableStyleId>
              </a:tblPr>
              <a:tblGrid>
                <a:gridCol w="5638647"/>
                <a:gridCol w="5638647"/>
              </a:tblGrid>
              <a:tr h="2743200">
                <a:tc>
                  <a:txBody>
                    <a:bodyPr wrap="square"/>
                    <a:lstStyle/>
                    <a:p>
                      <a:pPr algn="ctr"/>
                      <a:r>
                        <a:rPr sz="1100" b="1">
                          <a:solidFill>
                            <a:srgbClr val="FFFFFF"/>
                          </a:solidFill>
                        </a:rPr>
                        <a:t>항목</a:t>
                      </a:r>
                    </a:p>
                  </a:txBody>
                  <a:tcPr>
                    <a:solidFill>
                      <a:srgbClr val="2163BB"/>
                    </a:solidFill>
                  </a:tcPr>
                </a:tc>
                <a:tc>
                  <a:txBody>
                    <a:bodyPr wrap="square"/>
                    <a:lstStyle/>
                    <a:p>
                      <a:pPr algn="ctr"/>
                      <a:r>
                        <a:rPr sz="1100" b="1">
                          <a:solidFill>
                            <a:srgbClr val="FFFFFF"/>
                          </a:solidFill>
                        </a:rPr>
                        <a:t>내용</a:t>
                      </a:r>
                    </a:p>
                  </a:txBody>
                  <a:tcPr>
                    <a:solidFill>
                      <a:srgbClr val="2163BB"/>
                    </a:solidFill>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graphicFrame>
        <p:nvGraphicFramePr>
          <p:cNvPr id="2" name="Table 1"/>
          <p:cNvGraphicFramePr>
            <a:graphicFrameLocks noGrp="1"/>
          </p:cNvGraphicFramePr>
          <p:nvPr/>
        </p:nvGraphicFramePr>
        <p:xfrm>
          <a:off x="457200" y="365760"/>
          <a:ext cx="11277294" cy="2743200"/>
        </p:xfrm>
        <a:graphic>
          <a:graphicData uri="http://schemas.openxmlformats.org/drawingml/2006/table">
            <a:tbl>
              <a:tblPr firstRow="1" bandRow="1">
                <a:tableStyleId>{5C22544A-7EE6-4342-B048-85BDC9FD1C3A}</a:tableStyleId>
              </a:tblPr>
              <a:tblGrid>
                <a:gridCol w="5638647"/>
                <a:gridCol w="5638647"/>
              </a:tblGrid>
              <a:tr h="685800">
                <a:tc>
                  <a:txBody>
                    <a:bodyPr wrap="square"/>
                    <a:lstStyle/>
                    <a:p>
                      <a:pPr algn="ctr"/>
                      <a:r>
                        <a:rPr sz="1100" b="1">
                          <a:solidFill>
                            <a:srgbClr val="FFFFFF"/>
                          </a:solidFill>
                        </a:rPr>
                        <a:t>문서 취합</a:t>
                      </a:r>
                    </a:p>
                  </a:txBody>
                  <a:tcPr>
                    <a:solidFill>
                      <a:srgbClr val="2163BB"/>
                    </a:solidFill>
                  </a:tcPr>
                </a:tc>
                <a:tc>
                  <a:txBody>
                    <a:bodyPr wrap="square"/>
                    <a:lstStyle/>
                    <a:p>
                      <a:pPr algn="ctr"/>
                      <a:r>
                        <a:rPr sz="1100" b="1">
                          <a:solidFill>
                            <a:srgbClr val="FFFFFF"/>
                          </a:solidFill>
                        </a:rPr>
                        <a:t>Confluence Page Properties 기반 산출물 현황 취합</a:t>
                      </a:r>
                    </a:p>
                  </a:txBody>
                  <a:tcPr>
                    <a:solidFill>
                      <a:srgbClr val="2163BB"/>
                    </a:solidFill>
                  </a:tcPr>
                </a:tc>
              </a:tr>
              <a:tr h="685800">
                <a:tc>
                  <a:txBody>
                    <a:bodyPr wrap="square"/>
                    <a:lstStyle/>
                    <a:p>
                      <a:pPr algn="ctr"/>
                      <a:r>
                        <a:rPr sz="1100"/>
                        <a:t>요구사항 체계화</a:t>
                      </a:r>
                    </a:p>
                  </a:txBody>
                  <a:tcPr>
                    <a:solidFill>
                      <a:srgbClr val="F0F5FA"/>
                    </a:solidFill>
                  </a:tcPr>
                </a:tc>
                <a:tc>
                  <a:txBody>
                    <a:bodyPr wrap="square"/>
                    <a:lstStyle/>
                    <a:p>
                      <a:pPr algn="ctr"/>
                      <a:r>
                        <a:rPr sz="1100"/>
                        <a:t>Claude/Speckit 기반 requirements.md, spec.md 생성</a:t>
                      </a:r>
                    </a:p>
                  </a:txBody>
                  <a:tcPr>
                    <a:solidFill>
                      <a:srgbClr val="F0F5FA"/>
                    </a:solidFill>
                  </a:tcPr>
                </a:tc>
              </a:tr>
              <a:tr h="685800">
                <a:tc>
                  <a:txBody>
                    <a:bodyPr wrap="square"/>
                    <a:lstStyle/>
                    <a:p>
                      <a:pPr algn="ctr"/>
                      <a:r>
                        <a:rPr sz="1100"/>
                        <a:t>추적성 점검</a:t>
                      </a:r>
                    </a:p>
                  </a:txBody>
                  <a:tcPr>
                    <a:solidFill>
                      <a:srgbClr val="F0F5FA"/>
                    </a:solidFill>
                  </a:tcPr>
                </a:tc>
                <a:tc>
                  <a:txBody>
                    <a:bodyPr wrap="square"/>
                    <a:lstStyle/>
                    <a:p>
                      <a:pPr algn="ctr"/>
                      <a:r>
                        <a:rPr sz="1100"/>
                        <a:t>요구사항-설계-테스트 ID 연결 자동 점검</a:t>
                      </a:r>
                    </a:p>
                  </a:txBody>
                  <a:tcPr>
                    <a:solidFill>
                      <a:srgbClr val="F0F5FA"/>
                    </a:solidFill>
                  </a:tcPr>
                </a:tc>
              </a:tr>
              <a:tr h="685800">
                <a:tc>
                  <a:txBody>
                    <a:bodyPr wrap="square"/>
                    <a:lstStyle/>
                    <a:p>
                      <a:pPr algn="ctr"/>
                      <a:r>
                        <a:rPr sz="1100"/>
                        <a:t>보완 요청</a:t>
                      </a:r>
                    </a:p>
                  </a:txBody>
                  <a:tcPr>
                    <a:solidFill>
                      <a:srgbClr val="F0F5FA"/>
                    </a:solidFill>
                  </a:tcPr>
                </a:tc>
                <a:tc>
                  <a:txBody>
                    <a:bodyPr wrap="square"/>
                    <a:lstStyle/>
                    <a:p>
                      <a:pPr algn="ctr"/>
                      <a:r>
                        <a:rPr sz="1100"/>
                        <a:t>Jira 댓글 또는 Task로 보완사항 등록</a:t>
                      </a:r>
                    </a:p>
                  </a:txBody>
                  <a:tcPr>
                    <a:solidFill>
                      <a:srgbClr val="F0F5FA"/>
                    </a:solidFill>
                  </a:tcPr>
                </a:tc>
              </a:tr>
            </a:tbl>
          </a:graphicData>
        </a:graphic>
      </p:graphicFrame>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548640"/>
          </a:xfrm>
          <a:prstGeom prst="rect">
            <a:avLst/>
          </a:prstGeom>
          <a:noFill/>
        </p:spPr>
        <p:txBody>
          <a:bodyPr wrap="none">
            <a:spAutoFit/>
          </a:bodyPr>
          <a:lstStyle/>
          <a:p>
            <a:pPr>
              <a:defRPr sz="1800" b="1">
                <a:solidFill>
                  <a:srgbClr val="2163BB"/>
                </a:solidFill>
              </a:defRPr>
            </a:pPr>
            <a:r>
              <a:t>11.3 3단계: 공정·보고 자동화</a:t>
            </a:r>
          </a:p>
        </p:txBody>
      </p:sp>
      <p:graphicFrame>
        <p:nvGraphicFramePr>
          <p:cNvPr id="3" name="Table 2"/>
          <p:cNvGraphicFramePr>
            <a:graphicFrameLocks noGrp="1"/>
          </p:cNvGraphicFramePr>
          <p:nvPr/>
        </p:nvGraphicFramePr>
        <p:xfrm>
          <a:off x="457200" y="960120"/>
          <a:ext cx="11277294" cy="2743200"/>
        </p:xfrm>
        <a:graphic>
          <a:graphicData uri="http://schemas.openxmlformats.org/drawingml/2006/table">
            <a:tbl>
              <a:tblPr firstRow="1" bandRow="1">
                <a:tableStyleId>{5C22544A-7EE6-4342-B048-85BDC9FD1C3A}</a:tableStyleId>
              </a:tblPr>
              <a:tblGrid>
                <a:gridCol w="5638647"/>
                <a:gridCol w="5638647"/>
              </a:tblGrid>
              <a:tr h="2743200">
                <a:tc>
                  <a:txBody>
                    <a:bodyPr wrap="square"/>
                    <a:lstStyle/>
                    <a:p>
                      <a:pPr algn="ctr"/>
                      <a:r>
                        <a:rPr sz="1100" b="1">
                          <a:solidFill>
                            <a:srgbClr val="FFFFFF"/>
                          </a:solidFill>
                        </a:rPr>
                        <a:t>항목</a:t>
                      </a:r>
                    </a:p>
                  </a:txBody>
                  <a:tcPr>
                    <a:solidFill>
                      <a:srgbClr val="2163BB"/>
                    </a:solidFill>
                  </a:tcPr>
                </a:tc>
                <a:tc>
                  <a:txBody>
                    <a:bodyPr wrap="square"/>
                    <a:lstStyle/>
                    <a:p>
                      <a:pPr algn="ctr"/>
                      <a:r>
                        <a:rPr sz="1100" b="1">
                          <a:solidFill>
                            <a:srgbClr val="FFFFFF"/>
                          </a:solidFill>
                        </a:rPr>
                        <a:t>내용</a:t>
                      </a:r>
                    </a:p>
                  </a:txBody>
                  <a:tcPr>
                    <a:solidFill>
                      <a:srgbClr val="2163BB"/>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graphicFrame>
        <p:nvGraphicFramePr>
          <p:cNvPr id="2" name="Table 1"/>
          <p:cNvGraphicFramePr>
            <a:graphicFrameLocks noGrp="1"/>
          </p:cNvGraphicFramePr>
          <p:nvPr/>
        </p:nvGraphicFramePr>
        <p:xfrm>
          <a:off x="457200" y="365760"/>
          <a:ext cx="11277294" cy="2743200"/>
        </p:xfrm>
        <a:graphic>
          <a:graphicData uri="http://schemas.openxmlformats.org/drawingml/2006/table">
            <a:tbl>
              <a:tblPr firstRow="1" bandRow="1">
                <a:tableStyleId>{5C22544A-7EE6-4342-B048-85BDC9FD1C3A}</a:tableStyleId>
              </a:tblPr>
              <a:tblGrid>
                <a:gridCol w="5638647"/>
                <a:gridCol w="5638647"/>
              </a:tblGrid>
              <a:tr h="685800">
                <a:tc>
                  <a:txBody>
                    <a:bodyPr wrap="square"/>
                    <a:lstStyle/>
                    <a:p>
                      <a:pPr algn="ctr"/>
                      <a:r>
                        <a:rPr sz="1100" b="1">
                          <a:solidFill>
                            <a:srgbClr val="FFFFFF"/>
                          </a:solidFill>
                        </a:rPr>
                        <a:t>WBS 자동화</a:t>
                      </a:r>
                    </a:p>
                  </a:txBody>
                  <a:tcPr>
                    <a:solidFill>
                      <a:srgbClr val="2163BB"/>
                    </a:solidFill>
                  </a:tcPr>
                </a:tc>
                <a:tc>
                  <a:txBody>
                    <a:bodyPr wrap="square"/>
                    <a:lstStyle/>
                    <a:p>
                      <a:pPr algn="ctr"/>
                      <a:r>
                        <a:rPr sz="1100" b="1">
                          <a:solidFill>
                            <a:srgbClr val="FFFFFF"/>
                          </a:solidFill>
                        </a:rPr>
                        <a:t>Jira Task 기반 WBS 자동 생성</a:t>
                      </a:r>
                    </a:p>
                  </a:txBody>
                  <a:tcPr>
                    <a:solidFill>
                      <a:srgbClr val="2163BB"/>
                    </a:solidFill>
                  </a:tcPr>
                </a:tc>
              </a:tr>
              <a:tr h="685800">
                <a:tc>
                  <a:txBody>
                    <a:bodyPr wrap="square"/>
                    <a:lstStyle/>
                    <a:p>
                      <a:pPr algn="ctr"/>
                      <a:r>
                        <a:rPr sz="1100"/>
                        <a:t>공정률 산정</a:t>
                      </a:r>
                    </a:p>
                  </a:txBody>
                  <a:tcPr>
                    <a:solidFill>
                      <a:srgbClr val="F0F5FA"/>
                    </a:solidFill>
                  </a:tcPr>
                </a:tc>
                <a:tc>
                  <a:txBody>
                    <a:bodyPr wrap="square"/>
                    <a:lstStyle/>
                    <a:p>
                      <a:pPr algn="ctr"/>
                      <a:r>
                        <a:rPr sz="1100"/>
                        <a:t>TDD 통과 기준 기반 진척률 계산</a:t>
                      </a:r>
                    </a:p>
                  </a:txBody>
                  <a:tcPr>
                    <a:solidFill>
                      <a:srgbClr val="F0F5FA"/>
                    </a:solidFill>
                  </a:tcPr>
                </a:tc>
              </a:tr>
              <a:tr h="685800">
                <a:tc>
                  <a:txBody>
                    <a:bodyPr wrap="square"/>
                    <a:lstStyle/>
                    <a:p>
                      <a:pPr algn="ctr"/>
                      <a:r>
                        <a:rPr sz="1100"/>
                        <a:t>주간보고</a:t>
                      </a:r>
                    </a:p>
                  </a:txBody>
                  <a:tcPr>
                    <a:solidFill>
                      <a:srgbClr val="F0F5FA"/>
                    </a:solidFill>
                  </a:tcPr>
                </a:tc>
                <a:tc>
                  <a:txBody>
                    <a:bodyPr wrap="square"/>
                    <a:lstStyle/>
                    <a:p>
                      <a:pPr algn="ctr"/>
                      <a:r>
                        <a:rPr sz="1100"/>
                        <a:t>Jira/Confluence/Slack 데이터 취합 후 자동 생성</a:t>
                      </a:r>
                    </a:p>
                  </a:txBody>
                  <a:tcPr>
                    <a:solidFill>
                      <a:srgbClr val="F0F5FA"/>
                    </a:solidFill>
                  </a:tcPr>
                </a:tc>
              </a:tr>
              <a:tr h="685800">
                <a:tc>
                  <a:txBody>
                    <a:bodyPr wrap="square"/>
                    <a:lstStyle/>
                    <a:p>
                      <a:pPr algn="ctr"/>
                      <a:r>
                        <a:rPr sz="1100"/>
                        <a:t>월간보고</a:t>
                      </a:r>
                    </a:p>
                  </a:txBody>
                  <a:tcPr>
                    <a:solidFill>
                      <a:srgbClr val="F0F5FA"/>
                    </a:solidFill>
                  </a:tcPr>
                </a:tc>
                <a:tc>
                  <a:txBody>
                    <a:bodyPr wrap="square"/>
                    <a:lstStyle/>
                    <a:p>
                      <a:pPr algn="ctr"/>
                      <a:r>
                        <a:rPr sz="1100"/>
                        <a:t>월간 공정, 이슈, 리스크, 산출물 현황 자동 보고</a:t>
                      </a:r>
                    </a:p>
                  </a:txBody>
                  <a:tcPr>
                    <a:solidFill>
                      <a:srgbClr val="F0F5FA"/>
                    </a:solidFill>
                  </a:tcPr>
                </a:tc>
              </a:tr>
            </a:tbl>
          </a:graphicData>
        </a:graphic>
      </p:graphicFrame>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548640"/>
          </a:xfrm>
          <a:prstGeom prst="rect">
            <a:avLst/>
          </a:prstGeom>
          <a:noFill/>
        </p:spPr>
        <p:txBody>
          <a:bodyPr wrap="none">
            <a:spAutoFit/>
          </a:bodyPr>
          <a:lstStyle/>
          <a:p>
            <a:pPr>
              <a:defRPr sz="1800" b="1">
                <a:solidFill>
                  <a:srgbClr val="2163BB"/>
                </a:solidFill>
              </a:defRPr>
            </a:pPr>
            <a:r>
              <a:t>11.4 4단계: 개발 자동화 및 검증</a:t>
            </a:r>
          </a:p>
        </p:txBody>
      </p:sp>
      <p:graphicFrame>
        <p:nvGraphicFramePr>
          <p:cNvPr id="3" name="Table 2"/>
          <p:cNvGraphicFramePr>
            <a:graphicFrameLocks noGrp="1"/>
          </p:cNvGraphicFramePr>
          <p:nvPr/>
        </p:nvGraphicFramePr>
        <p:xfrm>
          <a:off x="457200" y="960120"/>
          <a:ext cx="11277294" cy="2743200"/>
        </p:xfrm>
        <a:graphic>
          <a:graphicData uri="http://schemas.openxmlformats.org/drawingml/2006/table">
            <a:tbl>
              <a:tblPr firstRow="1" bandRow="1">
                <a:tableStyleId>{5C22544A-7EE6-4342-B048-85BDC9FD1C3A}</a:tableStyleId>
              </a:tblPr>
              <a:tblGrid>
                <a:gridCol w="5638647"/>
                <a:gridCol w="5638647"/>
              </a:tblGrid>
              <a:tr h="2743200">
                <a:tc>
                  <a:txBody>
                    <a:bodyPr wrap="square"/>
                    <a:lstStyle/>
                    <a:p>
                      <a:pPr algn="ctr"/>
                      <a:r>
                        <a:rPr sz="1100" b="1">
                          <a:solidFill>
                            <a:srgbClr val="FFFFFF"/>
                          </a:solidFill>
                        </a:rPr>
                        <a:t>항목</a:t>
                      </a:r>
                    </a:p>
                  </a:txBody>
                  <a:tcPr>
                    <a:solidFill>
                      <a:srgbClr val="2163BB"/>
                    </a:solidFill>
                  </a:tcPr>
                </a:tc>
                <a:tc>
                  <a:txBody>
                    <a:bodyPr wrap="square"/>
                    <a:lstStyle/>
                    <a:p>
                      <a:pPr algn="ctr"/>
                      <a:r>
                        <a:rPr sz="1100" b="1">
                          <a:solidFill>
                            <a:srgbClr val="FFFFFF"/>
                          </a:solidFill>
                        </a:rPr>
                        <a:t>내용</a:t>
                      </a:r>
                    </a:p>
                  </a:txBody>
                  <a:tcPr>
                    <a:solidFill>
                      <a:srgbClr val="2163BB"/>
                    </a:solidFill>
                  </a:tcPr>
                </a:tc>
              </a:tr>
            </a:tbl>
          </a:graphicData>
        </a:graphic>
      </p:graphicFrame>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graphicFrame>
        <p:nvGraphicFramePr>
          <p:cNvPr id="3" name="Table 2"/>
          <p:cNvGraphicFramePr>
            <a:graphicFrameLocks noGrp="1"/>
          </p:cNvGraphicFramePr>
          <p:nvPr/>
        </p:nvGraphicFramePr>
        <p:xfrm>
          <a:off x="457200" y="822960"/>
          <a:ext cx="11277294" cy="2743200"/>
        </p:xfrm>
        <a:graphic>
          <a:graphicData uri="http://schemas.openxmlformats.org/drawingml/2006/table">
            <a:tbl>
              <a:tblPr firstRow="1" bandRow="1">
                <a:tableStyleId>{5C22544A-7EE6-4342-B048-85BDC9FD1C3A}</a:tableStyleId>
              </a:tblPr>
              <a:tblGrid>
                <a:gridCol w="5638647"/>
                <a:gridCol w="5638647"/>
              </a:tblGrid>
              <a:tr h="685800">
                <a:tc>
                  <a:txBody>
                    <a:bodyPr wrap="square"/>
                    <a:lstStyle/>
                    <a:p>
                      <a:pPr algn="ctr"/>
                      <a:r>
                        <a:rPr sz="1100" b="1">
                          <a:solidFill>
                            <a:srgbClr val="FFFFFF"/>
                          </a:solidFill>
                        </a:rPr>
                        <a:t>개발 자동화</a:t>
                      </a:r>
                    </a:p>
                  </a:txBody>
                  <a:tcPr>
                    <a:solidFill>
                      <a:srgbClr val="2163BB"/>
                    </a:solidFill>
                  </a:tcPr>
                </a:tc>
                <a:tc>
                  <a:txBody>
                    <a:bodyPr wrap="square"/>
                    <a:lstStyle/>
                    <a:p>
                      <a:pPr algn="ctr"/>
                      <a:r>
                        <a:rPr sz="1100" b="1">
                          <a:solidFill>
                            <a:srgbClr val="FFFFFF"/>
                          </a:solidFill>
                        </a:rPr>
                        <a:t>Claude Code, Spec Kit 기반 코드 생성 테스트</a:t>
                      </a:r>
                    </a:p>
                  </a:txBody>
                  <a:tcPr>
                    <a:solidFill>
                      <a:srgbClr val="2163BB"/>
                    </a:solidFill>
                  </a:tcPr>
                </a:tc>
              </a:tr>
              <a:tr h="685800">
                <a:tc>
                  <a:txBody>
                    <a:bodyPr wrap="square"/>
                    <a:lstStyle/>
                    <a:p>
                      <a:pPr algn="ctr"/>
                      <a:r>
                        <a:rPr sz="1100"/>
                        <a:t>TDD 적용</a:t>
                      </a:r>
                    </a:p>
                  </a:txBody>
                  <a:tcPr>
                    <a:solidFill>
                      <a:srgbClr val="F0F5FA"/>
                    </a:solidFill>
                  </a:tcPr>
                </a:tc>
                <a:tc>
                  <a:txBody>
                    <a:bodyPr wrap="square"/>
                    <a:lstStyle/>
                    <a:p>
                      <a:pPr algn="ctr"/>
                      <a:r>
                        <a:rPr sz="1100"/>
                        <a:t>테스트 우선 개발 기준 수립</a:t>
                      </a:r>
                    </a:p>
                  </a:txBody>
                  <a:tcPr>
                    <a:solidFill>
                      <a:srgbClr val="F0F5FA"/>
                    </a:solidFill>
                  </a:tcPr>
                </a:tc>
              </a:tr>
              <a:tr h="685800">
                <a:tc>
                  <a:txBody>
                    <a:bodyPr wrap="square"/>
                    <a:lstStyle/>
                    <a:p>
                      <a:pPr algn="ctr"/>
                      <a:r>
                        <a:rPr sz="1100"/>
                        <a:t>컴포넌트 최적화</a:t>
                      </a:r>
                    </a:p>
                  </a:txBody>
                  <a:tcPr>
                    <a:solidFill>
                      <a:srgbClr val="F0F5FA"/>
                    </a:solidFill>
                  </a:tcPr>
                </a:tc>
                <a:tc>
                  <a:txBody>
                    <a:bodyPr wrap="square"/>
                    <a:lstStyle/>
                    <a:p>
                      <a:pPr algn="ctr"/>
                      <a:r>
                        <a:rPr sz="1100"/>
                        <a:t>KOMSA 화면 패턴 기반 컴포넌트 명세화</a:t>
                      </a:r>
                    </a:p>
                  </a:txBody>
                  <a:tcPr>
                    <a:solidFill>
                      <a:srgbClr val="F0F5FA"/>
                    </a:solidFill>
                  </a:tcPr>
                </a:tc>
              </a:tr>
              <a:tr h="685800">
                <a:tc>
                  <a:txBody>
                    <a:bodyPr wrap="square"/>
                    <a:lstStyle/>
                    <a:p>
                      <a:pPr algn="ctr"/>
                      <a:r>
                        <a:rPr sz="1100"/>
                        <a:t>업무 검증</a:t>
                      </a:r>
                    </a:p>
                  </a:txBody>
                  <a:tcPr>
                    <a:solidFill>
                      <a:srgbClr val="F0F5FA"/>
                    </a:solidFill>
                  </a:tcPr>
                </a:tc>
                <a:tc>
                  <a:txBody>
                    <a:bodyPr wrap="square"/>
                    <a:lstStyle/>
                    <a:p>
                      <a:pPr algn="ctr"/>
                      <a:r>
                        <a:rPr sz="1100"/>
                        <a:t>해수호봇, RCMS, 운항관리, 항만보안심사 적용 검증</a:t>
                      </a:r>
                    </a:p>
                  </a:txBody>
                  <a:tcPr>
                    <a:solidFill>
                      <a:srgbClr val="F0F5FA"/>
                    </a:solidFill>
                  </a:tcPr>
                </a:tc>
              </a:tr>
            </a:tbl>
          </a:graphicData>
        </a:graphic>
      </p:graphicFrame>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2163BB"/>
                </a:solidFill>
              </a:defRPr>
            </a:pPr>
            <a:r>
              <a:t>12. 성과 측정 지표</a:t>
            </a:r>
          </a:p>
        </p:txBody>
      </p:sp>
      <p:graphicFrame>
        <p:nvGraphicFramePr>
          <p:cNvPr id="3" name="Table 2"/>
          <p:cNvGraphicFramePr>
            <a:graphicFrameLocks noGrp="1"/>
          </p:cNvGraphicFramePr>
          <p:nvPr/>
        </p:nvGraphicFramePr>
        <p:xfrm>
          <a:off x="457200" y="1143000"/>
          <a:ext cx="11277294" cy="2743200"/>
        </p:xfrm>
        <a:graphic>
          <a:graphicData uri="http://schemas.openxmlformats.org/drawingml/2006/table">
            <a:tbl>
              <a:tblPr firstRow="1" bandRow="1">
                <a:tableStyleId>{5C22544A-7EE6-4342-B048-85BDC9FD1C3A}</a:tableStyleId>
              </a:tblPr>
              <a:tblGrid>
                <a:gridCol w="5638647"/>
                <a:gridCol w="5638647"/>
              </a:tblGrid>
              <a:tr h="2743200">
                <a:tc>
                  <a:txBody>
                    <a:bodyPr wrap="square"/>
                    <a:lstStyle/>
                    <a:p>
                      <a:pPr algn="ctr"/>
                      <a:r>
                        <a:rPr sz="1100" b="1">
                          <a:solidFill>
                            <a:srgbClr val="FFFFFF"/>
                          </a:solidFill>
                        </a:rPr>
                        <a:t>지표</a:t>
                      </a:r>
                    </a:p>
                  </a:txBody>
                  <a:tcPr>
                    <a:solidFill>
                      <a:srgbClr val="2163BB"/>
                    </a:solidFill>
                  </a:tcPr>
                </a:tc>
                <a:tc>
                  <a:txBody>
                    <a:bodyPr wrap="square"/>
                    <a:lstStyle/>
                    <a:p>
                      <a:pPr algn="ctr"/>
                      <a:r>
                        <a:rPr sz="1100" b="1">
                          <a:solidFill>
                            <a:srgbClr val="FFFFFF"/>
                          </a:solidFill>
                        </a:rPr>
                        <a:t>측정 방법</a:t>
                      </a:r>
                    </a:p>
                  </a:txBody>
                  <a:tcPr>
                    <a:solidFill>
                      <a:srgbClr val="2163BB"/>
                    </a:solidFill>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graphicFrame>
        <p:nvGraphicFramePr>
          <p:cNvPr id="3" name="Table 2"/>
          <p:cNvGraphicFramePr>
            <a:graphicFrameLocks noGrp="1"/>
          </p:cNvGraphicFramePr>
          <p:nvPr/>
        </p:nvGraphicFramePr>
        <p:xfrm>
          <a:off x="457200" y="822960"/>
          <a:ext cx="11277294" cy="2743200"/>
        </p:xfrm>
        <a:graphic>
          <a:graphicData uri="http://schemas.openxmlformats.org/drawingml/2006/table">
            <a:tbl>
              <a:tblPr firstRow="1" bandRow="1">
                <a:tableStyleId>{5C22544A-7EE6-4342-B048-85BDC9FD1C3A}</a:tableStyleId>
              </a:tblPr>
              <a:tblGrid>
                <a:gridCol w="5638647"/>
                <a:gridCol w="5638647"/>
              </a:tblGrid>
              <a:tr h="342900">
                <a:tc>
                  <a:txBody>
                    <a:bodyPr wrap="square"/>
                    <a:lstStyle/>
                    <a:p>
                      <a:pPr algn="ctr"/>
                      <a:r>
                        <a:rPr sz="1100" b="1">
                          <a:solidFill>
                            <a:srgbClr val="FFFFFF"/>
                          </a:solidFill>
                        </a:rPr>
                        <a:t>문서 취합 소요시간</a:t>
                      </a:r>
                    </a:p>
                  </a:txBody>
                  <a:tcPr>
                    <a:solidFill>
                      <a:srgbClr val="2163BB"/>
                    </a:solidFill>
                  </a:tcPr>
                </a:tc>
                <a:tc>
                  <a:txBody>
                    <a:bodyPr wrap="square"/>
                    <a:lstStyle/>
                    <a:p>
                      <a:pPr algn="ctr"/>
                      <a:r>
                        <a:rPr sz="1100" b="1">
                          <a:solidFill>
                            <a:srgbClr val="FFFFFF"/>
                          </a:solidFill>
                        </a:rPr>
                        <a:t>기존 수작업 대비 자동 취합 시간 비교</a:t>
                      </a:r>
                    </a:p>
                  </a:txBody>
                  <a:tcPr>
                    <a:solidFill>
                      <a:srgbClr val="2163BB"/>
                    </a:solidFill>
                  </a:tcPr>
                </a:tc>
              </a:tr>
              <a:tr h="342900">
                <a:tc>
                  <a:txBody>
                    <a:bodyPr wrap="square"/>
                    <a:lstStyle/>
                    <a:p>
                      <a:pPr algn="ctr"/>
                      <a:r>
                        <a:rPr sz="1100"/>
                        <a:t>문서 검토 소요시간</a:t>
                      </a:r>
                    </a:p>
                  </a:txBody>
                  <a:tcPr>
                    <a:solidFill>
                      <a:srgbClr val="F0F5FA"/>
                    </a:solidFill>
                  </a:tcPr>
                </a:tc>
                <a:tc>
                  <a:txBody>
                    <a:bodyPr wrap="square"/>
                    <a:lstStyle/>
                    <a:p>
                      <a:pPr algn="ctr"/>
                      <a:r>
                        <a:rPr sz="1100"/>
                        <a:t>검토 요청부터 승인까지 평균 시간</a:t>
                      </a:r>
                    </a:p>
                  </a:txBody>
                  <a:tcPr>
                    <a:solidFill>
                      <a:srgbClr val="F0F5FA"/>
                    </a:solidFill>
                  </a:tcPr>
                </a:tc>
              </a:tr>
              <a:tr h="342900">
                <a:tc>
                  <a:txBody>
                    <a:bodyPr wrap="square"/>
                    <a:lstStyle/>
                    <a:p>
                      <a:pPr algn="ctr"/>
                      <a:r>
                        <a:rPr sz="1100"/>
                        <a:t>요구사항 추적 누락 건수</a:t>
                      </a:r>
                    </a:p>
                  </a:txBody>
                  <a:tcPr>
                    <a:solidFill>
                      <a:srgbClr val="F0F5FA"/>
                    </a:solidFill>
                  </a:tcPr>
                </a:tc>
                <a:tc>
                  <a:txBody>
                    <a:bodyPr wrap="square"/>
                    <a:lstStyle/>
                    <a:p>
                      <a:pPr algn="ctr"/>
                      <a:r>
                        <a:rPr sz="1100"/>
                        <a:t>감리/내부 점검 시 누락 건수</a:t>
                      </a:r>
                    </a:p>
                  </a:txBody>
                  <a:tcPr>
                    <a:solidFill>
                      <a:srgbClr val="F0F5FA"/>
                    </a:solidFill>
                  </a:tcPr>
                </a:tc>
              </a:tr>
              <a:tr h="342900">
                <a:tc>
                  <a:txBody>
                    <a:bodyPr wrap="square"/>
                    <a:lstStyle/>
                    <a:p>
                      <a:pPr algn="ctr"/>
                      <a:r>
                        <a:rPr sz="1100"/>
                        <a:t>주간보고 작성 시간</a:t>
                      </a:r>
                    </a:p>
                  </a:txBody>
                  <a:tcPr>
                    <a:solidFill>
                      <a:srgbClr val="F0F5FA"/>
                    </a:solidFill>
                  </a:tcPr>
                </a:tc>
                <a:tc>
                  <a:txBody>
                    <a:bodyPr wrap="square"/>
                    <a:lstStyle/>
                    <a:p>
                      <a:pPr algn="ctr"/>
                      <a:r>
                        <a:rPr sz="1100"/>
                        <a:t>보고서 작성 담당자 투입 시간</a:t>
                      </a:r>
                    </a:p>
                  </a:txBody>
                  <a:tcPr>
                    <a:solidFill>
                      <a:srgbClr val="F0F5FA"/>
                    </a:solidFill>
                  </a:tcPr>
                </a:tc>
              </a:tr>
              <a:tr h="342900">
                <a:tc>
                  <a:txBody>
                    <a:bodyPr wrap="square"/>
                    <a:lstStyle/>
                    <a:p>
                      <a:pPr algn="ctr"/>
                      <a:r>
                        <a:rPr sz="1100"/>
                        <a:t>공정률 정확도</a:t>
                      </a:r>
                    </a:p>
                  </a:txBody>
                  <a:tcPr>
                    <a:solidFill>
                      <a:srgbClr val="F0F5FA"/>
                    </a:solidFill>
                  </a:tcPr>
                </a:tc>
                <a:tc>
                  <a:txBody>
                    <a:bodyPr wrap="square"/>
                    <a:lstStyle/>
                    <a:p>
                      <a:pPr algn="ctr"/>
                      <a:r>
                        <a:rPr sz="1100"/>
                        <a:t>Jira/TDD 기준 공정률과 실제 완료율 비교</a:t>
                      </a:r>
                    </a:p>
                  </a:txBody>
                  <a:tcPr>
                    <a:solidFill>
                      <a:srgbClr val="F0F5FA"/>
                    </a:solidFill>
                  </a:tcPr>
                </a:tc>
              </a:tr>
              <a:tr h="342900">
                <a:tc>
                  <a:txBody>
                    <a:bodyPr wrap="square"/>
                    <a:lstStyle/>
                    <a:p>
                      <a:pPr algn="ctr"/>
                      <a:r>
                        <a:rPr sz="1100"/>
                        <a:t>테스트 통과율</a:t>
                      </a:r>
                    </a:p>
                  </a:txBody>
                  <a:tcPr>
                    <a:solidFill>
                      <a:srgbClr val="F0F5FA"/>
                    </a:solidFill>
                  </a:tcPr>
                </a:tc>
                <a:tc>
                  <a:txBody>
                    <a:bodyPr wrap="square"/>
                    <a:lstStyle/>
                    <a:p>
                      <a:pPr algn="ctr"/>
                      <a:r>
                        <a:rPr sz="1100"/>
                        <a:t>요구사항별 테스트 통과 비율</a:t>
                      </a:r>
                    </a:p>
                  </a:txBody>
                  <a:tcPr>
                    <a:solidFill>
                      <a:srgbClr val="F0F5FA"/>
                    </a:solidFill>
                  </a:tcPr>
                </a:tc>
              </a:tr>
              <a:tr h="342900">
                <a:tc>
                  <a:txBody>
                    <a:bodyPr wrap="square"/>
                    <a:lstStyle/>
                    <a:p>
                      <a:pPr algn="ctr"/>
                      <a:r>
                        <a:rPr sz="1100"/>
                        <a:t>AI 생성 코드 활용률</a:t>
                      </a:r>
                    </a:p>
                  </a:txBody>
                  <a:tcPr>
                    <a:solidFill>
                      <a:srgbClr val="F0F5FA"/>
                    </a:solidFill>
                  </a:tcPr>
                </a:tc>
                <a:tc>
                  <a:txBody>
                    <a:bodyPr wrap="square"/>
                    <a:lstStyle/>
                    <a:p>
                      <a:pPr algn="ctr"/>
                      <a:r>
                        <a:rPr sz="1100"/>
                        <a:t>AI 생성 코드 중 반영된 코드 비율</a:t>
                      </a:r>
                    </a:p>
                  </a:txBody>
                  <a:tcPr>
                    <a:solidFill>
                      <a:srgbClr val="F0F5FA"/>
                    </a:solidFill>
                  </a:tcPr>
                </a:tc>
              </a:tr>
              <a:tr h="342900">
                <a:tc>
                  <a:txBody>
                    <a:bodyPr wrap="square"/>
                    <a:lstStyle/>
                    <a:p>
                      <a:pPr algn="ctr"/>
                      <a:r>
                        <a:rPr sz="1100"/>
                        <a:t>오픈 후 결함 건수</a:t>
                      </a:r>
                    </a:p>
                  </a:txBody>
                  <a:tcPr>
                    <a:solidFill>
                      <a:srgbClr val="F0F5FA"/>
                    </a:solidFill>
                  </a:tcPr>
                </a:tc>
                <a:tc>
                  <a:txBody>
                    <a:bodyPr wrap="square"/>
                    <a:lstStyle/>
                    <a:p>
                      <a:pPr algn="ctr"/>
                      <a:r>
                        <a:rPr sz="1100"/>
                        <a:t>기존 프로젝트 대비 초기 결함 건수 비교</a:t>
                      </a:r>
                    </a:p>
                  </a:txBody>
                  <a:tcPr>
                    <a:solidFill>
                      <a:srgbClr val="F0F5FA"/>
                    </a:solidFill>
                  </a:tcPr>
                </a:tc>
              </a:tr>
            </a:tbl>
          </a:graphicData>
        </a:graphic>
      </p:graphicFrame>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2163BB"/>
                </a:solidFill>
              </a:defRPr>
            </a:pPr>
            <a:r>
              <a:t>13. 리스크 및 대응 방안</a:t>
            </a:r>
          </a:p>
        </p:txBody>
      </p:sp>
      <p:graphicFrame>
        <p:nvGraphicFramePr>
          <p:cNvPr id="3" name="Table 2"/>
          <p:cNvGraphicFramePr>
            <a:graphicFrameLocks noGrp="1"/>
          </p:cNvGraphicFramePr>
          <p:nvPr/>
        </p:nvGraphicFramePr>
        <p:xfrm>
          <a:off x="457200" y="1143000"/>
          <a:ext cx="11277294" cy="2743200"/>
        </p:xfrm>
        <a:graphic>
          <a:graphicData uri="http://schemas.openxmlformats.org/drawingml/2006/table">
            <a:tbl>
              <a:tblPr firstRow="1" bandRow="1">
                <a:tableStyleId>{5C22544A-7EE6-4342-B048-85BDC9FD1C3A}</a:tableStyleId>
              </a:tblPr>
              <a:tblGrid>
                <a:gridCol w="3759098"/>
                <a:gridCol w="3759098"/>
                <a:gridCol w="3759098"/>
              </a:tblGrid>
              <a:tr h="2743200">
                <a:tc>
                  <a:txBody>
                    <a:bodyPr wrap="square"/>
                    <a:lstStyle/>
                    <a:p>
                      <a:pPr algn="ctr"/>
                      <a:r>
                        <a:rPr sz="1100" b="1">
                          <a:solidFill>
                            <a:srgbClr val="FFFFFF"/>
                          </a:solidFill>
                        </a:rPr>
                        <a:t>리스크</a:t>
                      </a:r>
                    </a:p>
                  </a:txBody>
                  <a:tcPr>
                    <a:solidFill>
                      <a:srgbClr val="2163BB"/>
                    </a:solidFill>
                  </a:tcPr>
                </a:tc>
                <a:tc>
                  <a:txBody>
                    <a:bodyPr wrap="square"/>
                    <a:lstStyle/>
                    <a:p>
                      <a:pPr algn="ctr"/>
                      <a:r>
                        <a:rPr sz="1100" b="1">
                          <a:solidFill>
                            <a:srgbClr val="FFFFFF"/>
                          </a:solidFill>
                        </a:rPr>
                        <a:t>내용</a:t>
                      </a:r>
                    </a:p>
                  </a:txBody>
                  <a:tcPr>
                    <a:solidFill>
                      <a:srgbClr val="2163BB"/>
                    </a:solidFill>
                  </a:tcPr>
                </a:tc>
                <a:tc>
                  <a:txBody>
                    <a:bodyPr wrap="square"/>
                    <a:lstStyle/>
                    <a:p>
                      <a:pPr algn="ctr"/>
                      <a:r>
                        <a:rPr sz="1100" b="1">
                          <a:solidFill>
                            <a:srgbClr val="FFFFFF"/>
                          </a:solidFill>
                        </a:rPr>
                        <a:t>대응 방안</a:t>
                      </a:r>
                    </a:p>
                  </a:txBody>
                  <a:tcPr>
                    <a:solidFill>
                      <a:srgbClr val="2163BB"/>
                    </a:solidFill>
                  </a:tcPr>
                </a:tc>
              </a:tr>
            </a:tbl>
          </a:graphicData>
        </a:graphic>
      </p:graphicFrame>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graphicFrame>
        <p:nvGraphicFramePr>
          <p:cNvPr id="3" name="Table 2"/>
          <p:cNvGraphicFramePr>
            <a:graphicFrameLocks noGrp="1"/>
          </p:cNvGraphicFramePr>
          <p:nvPr/>
        </p:nvGraphicFramePr>
        <p:xfrm>
          <a:off x="457200" y="822960"/>
          <a:ext cx="11277294" cy="2743200"/>
        </p:xfrm>
        <a:graphic>
          <a:graphicData uri="http://schemas.openxmlformats.org/drawingml/2006/table">
            <a:tbl>
              <a:tblPr firstRow="1" bandRow="1">
                <a:tableStyleId>{5C22544A-7EE6-4342-B048-85BDC9FD1C3A}</a:tableStyleId>
              </a:tblPr>
              <a:tblGrid>
                <a:gridCol w="3759098"/>
                <a:gridCol w="3759098"/>
                <a:gridCol w="3759098"/>
              </a:tblGrid>
              <a:tr h="457200">
                <a:tc>
                  <a:txBody>
                    <a:bodyPr wrap="square"/>
                    <a:lstStyle/>
                    <a:p>
                      <a:pPr algn="ctr"/>
                      <a:r>
                        <a:rPr sz="1100" b="1">
                          <a:solidFill>
                            <a:srgbClr val="FFFFFF"/>
                          </a:solidFill>
                        </a:rPr>
                        <a:t>AI 결과 신뢰성</a:t>
                      </a:r>
                    </a:p>
                  </a:txBody>
                  <a:tcPr>
                    <a:solidFill>
                      <a:srgbClr val="2163BB"/>
                    </a:solidFill>
                  </a:tcPr>
                </a:tc>
                <a:tc>
                  <a:txBody>
                    <a:bodyPr wrap="square"/>
                    <a:lstStyle/>
                    <a:p>
                      <a:pPr algn="ctr"/>
                      <a:r>
                        <a:rPr sz="1100" b="1">
                          <a:solidFill>
                            <a:srgbClr val="FFFFFF"/>
                          </a:solidFill>
                        </a:rPr>
                        <a:t>AI가 잘못된 분석 또는 코드를 생성할 수 있음</a:t>
                      </a:r>
                    </a:p>
                  </a:txBody>
                  <a:tcPr>
                    <a:solidFill>
                      <a:srgbClr val="2163BB"/>
                    </a:solidFill>
                  </a:tcPr>
                </a:tc>
                <a:tc>
                  <a:txBody>
                    <a:bodyPr wrap="square"/>
                    <a:lstStyle/>
                    <a:p>
                      <a:pPr algn="ctr"/>
                      <a:r>
                        <a:rPr sz="1100" b="1">
                          <a:solidFill>
                            <a:srgbClr val="FFFFFF"/>
                          </a:solidFill>
                        </a:rPr>
                        <a:t>담당자 검토와 승인 절차 유지</a:t>
                      </a:r>
                    </a:p>
                  </a:txBody>
                  <a:tcPr>
                    <a:solidFill>
                      <a:srgbClr val="2163BB"/>
                    </a:solidFill>
                  </a:tcPr>
                </a:tc>
              </a:tr>
              <a:tr h="457200">
                <a:tc>
                  <a:txBody>
                    <a:bodyPr wrap="square"/>
                    <a:lstStyle/>
                    <a:p>
                      <a:pPr algn="ctr"/>
                      <a:r>
                        <a:rPr sz="1100"/>
                        <a:t>문서 품질 편차</a:t>
                      </a:r>
                    </a:p>
                  </a:txBody>
                  <a:tcPr>
                    <a:solidFill>
                      <a:srgbClr val="F0F5FA"/>
                    </a:solidFill>
                  </a:tcPr>
                </a:tc>
                <a:tc>
                  <a:txBody>
                    <a:bodyPr wrap="square"/>
                    <a:lstStyle/>
                    <a:p>
                      <a:pPr algn="ctr"/>
                      <a:r>
                        <a:rPr sz="1100"/>
                        <a:t>입력 문서가 부실하면 AI 결과도 부정확</a:t>
                      </a:r>
                    </a:p>
                  </a:txBody>
                  <a:tcPr>
                    <a:solidFill>
                      <a:srgbClr val="F0F5FA"/>
                    </a:solidFill>
                  </a:tcPr>
                </a:tc>
                <a:tc>
                  <a:txBody>
                    <a:bodyPr wrap="square"/>
                    <a:lstStyle/>
                    <a:p>
                      <a:pPr algn="ctr"/>
                      <a:r>
                        <a:rPr sz="1100"/>
                        <a:t>표준 템플릿과 필수 항목 강제</a:t>
                      </a:r>
                    </a:p>
                  </a:txBody>
                  <a:tcPr>
                    <a:solidFill>
                      <a:srgbClr val="F0F5FA"/>
                    </a:solidFill>
                  </a:tcPr>
                </a:tc>
              </a:tr>
              <a:tr h="457200">
                <a:tc>
                  <a:txBody>
                    <a:bodyPr wrap="square"/>
                    <a:lstStyle/>
                    <a:p>
                      <a:pPr algn="ctr"/>
                      <a:r>
                        <a:rPr sz="1100"/>
                        <a:t>팀원 적응 부담</a:t>
                      </a:r>
                    </a:p>
                  </a:txBody>
                  <a:tcPr>
                    <a:solidFill>
                      <a:srgbClr val="F0F5FA"/>
                    </a:solidFill>
                  </a:tcPr>
                </a:tc>
                <a:tc>
                  <a:txBody>
                    <a:bodyPr wrap="square"/>
                    <a:lstStyle/>
                    <a:p>
                      <a:pPr algn="ctr"/>
                      <a:r>
                        <a:rPr sz="1100"/>
                        <a:t>Jira/Confluence/AI 도구 사용 부담</a:t>
                      </a:r>
                    </a:p>
                  </a:txBody>
                  <a:tcPr>
                    <a:solidFill>
                      <a:srgbClr val="F0F5FA"/>
                    </a:solidFill>
                  </a:tcPr>
                </a:tc>
                <a:tc>
                  <a:txBody>
                    <a:bodyPr wrap="square"/>
                    <a:lstStyle/>
                    <a:p>
                      <a:pPr algn="ctr"/>
                      <a:r>
                        <a:rPr sz="1100"/>
                        <a:t>역할별 교육 및 단계적 적용</a:t>
                      </a:r>
                    </a:p>
                  </a:txBody>
                  <a:tcPr>
                    <a:solidFill>
                      <a:srgbClr val="F0F5FA"/>
                    </a:solidFill>
                  </a:tcPr>
                </a:tc>
              </a:tr>
              <a:tr h="457200">
                <a:tc>
                  <a:txBody>
                    <a:bodyPr wrap="square"/>
                    <a:lstStyle/>
                    <a:p>
                      <a:pPr algn="ctr"/>
                      <a:r>
                        <a:rPr sz="1100"/>
                        <a:t>보안 이슈</a:t>
                      </a:r>
                    </a:p>
                  </a:txBody>
                  <a:tcPr>
                    <a:solidFill>
                      <a:srgbClr val="F0F5FA"/>
                    </a:solidFill>
                  </a:tcPr>
                </a:tc>
                <a:tc>
                  <a:txBody>
                    <a:bodyPr wrap="square"/>
                    <a:lstStyle/>
                    <a:p>
                      <a:pPr algn="ctr"/>
                      <a:r>
                        <a:rPr sz="1100"/>
                        <a:t>프로젝트 문서와 개인정보 외부 전송 우려</a:t>
                      </a:r>
                    </a:p>
                  </a:txBody>
                  <a:tcPr>
                    <a:solidFill>
                      <a:srgbClr val="F0F5FA"/>
                    </a:solidFill>
                  </a:tcPr>
                </a:tc>
                <a:tc>
                  <a:txBody>
                    <a:bodyPr wrap="square"/>
                    <a:lstStyle/>
                    <a:p>
                      <a:pPr algn="ctr"/>
                      <a:r>
                        <a:rPr sz="1100"/>
                        <a:t>사내 보안 정책 및 입력 데이터 마스킹 적용</a:t>
                      </a:r>
                    </a:p>
                  </a:txBody>
                  <a:tcPr>
                    <a:solidFill>
                      <a:srgbClr val="F0F5FA"/>
                    </a:solidFill>
                  </a:tcPr>
                </a:tc>
              </a:tr>
              <a:tr h="457200">
                <a:tc>
                  <a:txBody>
                    <a:bodyPr wrap="square"/>
                    <a:lstStyle/>
                    <a:p>
                      <a:pPr algn="ctr"/>
                      <a:r>
                        <a:rPr sz="1100"/>
                        <a:t>과도한 자동화</a:t>
                      </a:r>
                    </a:p>
                  </a:txBody>
                  <a:tcPr>
                    <a:solidFill>
                      <a:srgbClr val="F0F5FA"/>
                    </a:solidFill>
                  </a:tcPr>
                </a:tc>
                <a:tc>
                  <a:txBody>
                    <a:bodyPr wrap="square"/>
                    <a:lstStyle/>
                    <a:p>
                      <a:pPr algn="ctr"/>
                      <a:r>
                        <a:rPr sz="1100"/>
                        <a:t>검토 없이 자동 반영 시 오류 확산</a:t>
                      </a:r>
                    </a:p>
                  </a:txBody>
                  <a:tcPr>
                    <a:solidFill>
                      <a:srgbClr val="F0F5FA"/>
                    </a:solidFill>
                  </a:tcPr>
                </a:tc>
                <a:tc>
                  <a:txBody>
                    <a:bodyPr wrap="square"/>
                    <a:lstStyle/>
                    <a:p>
                      <a:pPr algn="ctr"/>
                      <a:r>
                        <a:rPr sz="1100"/>
                        <a:t>승인 기반 워크플로우 적용</a:t>
                      </a:r>
                    </a:p>
                  </a:txBody>
                  <a:tcPr>
                    <a:solidFill>
                      <a:srgbClr val="F0F5FA"/>
                    </a:solidFill>
                  </a:tcPr>
                </a:tc>
              </a:tr>
              <a:tr h="457200">
                <a:tc>
                  <a:txBody>
                    <a:bodyPr wrap="square"/>
                    <a:lstStyle/>
                    <a:p>
                      <a:pPr algn="ctr"/>
                      <a:r>
                        <a:rPr sz="1100"/>
                        <a:t>도구 종속성</a:t>
                      </a:r>
                    </a:p>
                  </a:txBody>
                  <a:tcPr>
                    <a:solidFill>
                      <a:srgbClr val="F0F5FA"/>
                    </a:solidFill>
                  </a:tcPr>
                </a:tc>
                <a:tc>
                  <a:txBody>
                    <a:bodyPr wrap="square"/>
                    <a:lstStyle/>
                    <a:p>
                      <a:pPr algn="ctr"/>
                      <a:r>
                        <a:rPr sz="1100"/>
                        <a:t>특정 AI 도구에 의존 가능성</a:t>
                      </a:r>
                    </a:p>
                  </a:txBody>
                  <a:tcPr>
                    <a:solidFill>
                      <a:srgbClr val="F0F5FA"/>
                    </a:solidFill>
                  </a:tcPr>
                </a:tc>
                <a:tc>
                  <a:txBody>
                    <a:bodyPr wrap="square"/>
                    <a:lstStyle/>
                    <a:p>
                      <a:pPr algn="ctr"/>
                      <a:r>
                        <a:rPr sz="1100"/>
                        <a:t>Claude 외 대체 도구 검토 및 표준 인터페이스 유지</a:t>
                      </a:r>
                    </a:p>
                  </a:txBody>
                  <a:tcPr>
                    <a:solidFill>
                      <a:srgbClr val="F0F5FA"/>
                    </a:solidFill>
                  </a:tcPr>
                </a:tc>
              </a:tr>
            </a:tbl>
          </a:graphicData>
        </a:graphic>
      </p:graphicFrame>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2163BB"/>
                </a:solidFill>
              </a:defRPr>
            </a:pPr>
            <a:r>
              <a:t>14. 임원 의사결정 요청사항</a:t>
            </a:r>
          </a:p>
        </p:txBody>
      </p:sp>
      <p:sp>
        <p:nvSpPr>
          <p:cNvPr id="3" name="TextBox 2"/>
          <p:cNvSpPr txBox="1"/>
          <p:nvPr/>
        </p:nvSpPr>
        <p:spPr>
          <a:xfrm>
            <a:off x="457200" y="1143000"/>
            <a:ext cx="11277295" cy="457200"/>
          </a:xfrm>
          <a:prstGeom prst="rect">
            <a:avLst/>
          </a:prstGeom>
          <a:noFill/>
        </p:spPr>
        <p:txBody>
          <a:bodyPr wrap="square">
            <a:spAutoFit/>
          </a:bodyPr>
          <a:lstStyle/>
          <a:p>
            <a:pPr>
              <a:defRPr sz="1400">
                <a:solidFill>
                  <a:srgbClr val="333333"/>
                </a:solidFill>
              </a:defRPr>
            </a:pPr>
            <a:r>
              <a:t>본 과제 추진을 위해 다음 사항에 대한 의사결정이 필요하다.</a:t>
            </a:r>
          </a:p>
        </p:txBody>
      </p:sp>
      <p:graphicFrame>
        <p:nvGraphicFramePr>
          <p:cNvPr id="4" name="Table 3"/>
          <p:cNvGraphicFramePr>
            <a:graphicFrameLocks noGrp="1"/>
          </p:cNvGraphicFramePr>
          <p:nvPr/>
        </p:nvGraphicFramePr>
        <p:xfrm>
          <a:off x="457200" y="1600200"/>
          <a:ext cx="11277294" cy="2743200"/>
        </p:xfrm>
        <a:graphic>
          <a:graphicData uri="http://schemas.openxmlformats.org/drawingml/2006/table">
            <a:tbl>
              <a:tblPr firstRow="1" bandRow="1">
                <a:tableStyleId>{5C22544A-7EE6-4342-B048-85BDC9FD1C3A}</a:tableStyleId>
              </a:tblPr>
              <a:tblGrid>
                <a:gridCol w="5638647"/>
                <a:gridCol w="5638647"/>
              </a:tblGrid>
              <a:tr h="2743200">
                <a:tc>
                  <a:txBody>
                    <a:bodyPr wrap="square"/>
                    <a:lstStyle/>
                    <a:p>
                      <a:pPr algn="ctr"/>
                      <a:r>
                        <a:rPr sz="1100" b="1">
                          <a:solidFill>
                            <a:srgbClr val="FFFFFF"/>
                          </a:solidFill>
                        </a:rPr>
                        <a:t>요청사항</a:t>
                      </a:r>
                    </a:p>
                  </a:txBody>
                  <a:tcPr>
                    <a:solidFill>
                      <a:srgbClr val="2163BB"/>
                    </a:solidFill>
                  </a:tcPr>
                </a:tc>
                <a:tc>
                  <a:txBody>
                    <a:bodyPr wrap="square"/>
                    <a:lstStyle/>
                    <a:p>
                      <a:pPr algn="ctr"/>
                      <a:r>
                        <a:rPr sz="1100" b="1">
                          <a:solidFill>
                            <a:srgbClr val="FFFFFF"/>
                          </a:solidFill>
                        </a:rPr>
                        <a:t>내용</a:t>
                      </a:r>
                    </a:p>
                  </a:txBody>
                  <a:tcPr>
                    <a:solidFill>
                      <a:srgbClr val="2163BB"/>
                    </a:solidFill>
                  </a:tcPr>
                </a:tc>
              </a:tr>
            </a:tbl>
          </a:graphicData>
        </a:graphic>
      </p:graphicFrame>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457200"/>
          </a:xfrm>
          <a:prstGeom prst="rect">
            <a:avLst/>
          </a:prstGeom>
          <a:noFill/>
        </p:spPr>
        <p:txBody>
          <a:bodyPr wrap="square">
            <a:spAutoFit/>
          </a:bodyPr>
          <a:lstStyle/>
          <a:p>
            <a:pPr>
              <a:defRPr sz="1400">
                <a:solidFill>
                  <a:srgbClr val="333333"/>
                </a:solidFill>
              </a:defRPr>
            </a:pPr>
            <a:r>
              <a:t>-- |</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graphicFrame>
        <p:nvGraphicFramePr>
          <p:cNvPr id="2" name="Table 1"/>
          <p:cNvGraphicFramePr>
            <a:graphicFrameLocks noGrp="1"/>
          </p:cNvGraphicFramePr>
          <p:nvPr/>
        </p:nvGraphicFramePr>
        <p:xfrm>
          <a:off x="457200" y="365760"/>
          <a:ext cx="11277294" cy="2743200"/>
        </p:xfrm>
        <a:graphic>
          <a:graphicData uri="http://schemas.openxmlformats.org/drawingml/2006/table">
            <a:tbl>
              <a:tblPr firstRow="1" bandRow="1">
                <a:tableStyleId>{5C22544A-7EE6-4342-B048-85BDC9FD1C3A}</a:tableStyleId>
              </a:tblPr>
              <a:tblGrid>
                <a:gridCol w="5638647"/>
                <a:gridCol w="5638647"/>
              </a:tblGrid>
              <a:tr h="457200">
                <a:tc>
                  <a:txBody>
                    <a:bodyPr wrap="square"/>
                    <a:lstStyle/>
                    <a:p>
                      <a:pPr algn="ctr"/>
                      <a:r>
                        <a:rPr sz="1100" b="1">
                          <a:solidFill>
                            <a:srgbClr val="FFFFFF"/>
                          </a:solidFill>
                        </a:rPr>
                        <a:t>추진 방향 승인</a:t>
                      </a:r>
                    </a:p>
                  </a:txBody>
                  <a:tcPr>
                    <a:solidFill>
                      <a:srgbClr val="2163BB"/>
                    </a:solidFill>
                  </a:tcPr>
                </a:tc>
                <a:tc>
                  <a:txBody>
                    <a:bodyPr wrap="square"/>
                    <a:lstStyle/>
                    <a:p>
                      <a:pPr algn="ctr"/>
                      <a:r>
                        <a:rPr sz="1100" b="1">
                          <a:solidFill>
                            <a:srgbClr val="FFFFFF"/>
                          </a:solidFill>
                        </a:rPr>
                        <a:t>AI 기반 프로젝트 관리 최적화 과제 추진 승인</a:t>
                      </a:r>
                    </a:p>
                  </a:txBody>
                  <a:tcPr>
                    <a:solidFill>
                      <a:srgbClr val="2163BB"/>
                    </a:solidFill>
                  </a:tcPr>
                </a:tc>
              </a:tr>
              <a:tr h="457200">
                <a:tc>
                  <a:txBody>
                    <a:bodyPr wrap="square"/>
                    <a:lstStyle/>
                    <a:p>
                      <a:pPr algn="ctr"/>
                      <a:r>
                        <a:rPr sz="1100"/>
                        <a:t>도구 사용 승인</a:t>
                      </a:r>
                    </a:p>
                  </a:txBody>
                  <a:tcPr>
                    <a:solidFill>
                      <a:srgbClr val="F0F5FA"/>
                    </a:solidFill>
                  </a:tcPr>
                </a:tc>
                <a:tc>
                  <a:txBody>
                    <a:bodyPr wrap="square"/>
                    <a:lstStyle/>
                    <a:p>
                      <a:pPr algn="ctr"/>
                      <a:r>
                        <a:rPr sz="1100"/>
                        <a:t>Jira, Confluence, Slack, Claude 및 필요 AI 도구 사용 승인</a:t>
                      </a:r>
                    </a:p>
                  </a:txBody>
                  <a:tcPr>
                    <a:solidFill>
                      <a:srgbClr val="F0F5FA"/>
                    </a:solidFill>
                  </a:tcPr>
                </a:tc>
              </a:tr>
              <a:tr h="457200">
                <a:tc>
                  <a:txBody>
                    <a:bodyPr wrap="square"/>
                    <a:lstStyle/>
                    <a:p>
                      <a:pPr algn="ctr"/>
                      <a:r>
                        <a:rPr sz="1100"/>
                        <a:t>역할 배정 승인</a:t>
                      </a:r>
                    </a:p>
                  </a:txBody>
                  <a:tcPr>
                    <a:solidFill>
                      <a:srgbClr val="F0F5FA"/>
                    </a:solidFill>
                  </a:tcPr>
                </a:tc>
                <a:tc>
                  <a:txBody>
                    <a:bodyPr wrap="square"/>
                    <a:lstStyle/>
                    <a:p>
                      <a:pPr algn="ctr"/>
                      <a:r>
                        <a:rPr sz="1100"/>
                        <a:t>담당자별 R&amp;R 확정</a:t>
                      </a:r>
                    </a:p>
                  </a:txBody>
                  <a:tcPr>
                    <a:solidFill>
                      <a:srgbClr val="F0F5FA"/>
                    </a:solidFill>
                  </a:tcPr>
                </a:tc>
              </a:tr>
              <a:tr h="457200">
                <a:tc>
                  <a:txBody>
                    <a:bodyPr wrap="square"/>
                    <a:lstStyle/>
                    <a:p>
                      <a:pPr algn="ctr"/>
                      <a:r>
                        <a:rPr sz="1100"/>
                        <a:t>시범 적용 승인</a:t>
                      </a:r>
                    </a:p>
                  </a:txBody>
                  <a:tcPr>
                    <a:solidFill>
                      <a:srgbClr val="F0F5FA"/>
                    </a:solidFill>
                  </a:tcPr>
                </a:tc>
                <a:tc>
                  <a:txBody>
                    <a:bodyPr wrap="square"/>
                    <a:lstStyle/>
                    <a:p>
                      <a:pPr algn="ctr"/>
                      <a:r>
                        <a:rPr sz="1100"/>
                        <a:t>해수호봇, RCMS, 운항관리, 항만보안심사 대상 시범 적용</a:t>
                      </a:r>
                    </a:p>
                  </a:txBody>
                  <a:tcPr>
                    <a:solidFill>
                      <a:srgbClr val="F0F5FA"/>
                    </a:solidFill>
                  </a:tcPr>
                </a:tc>
              </a:tr>
              <a:tr h="457200">
                <a:tc>
                  <a:txBody>
                    <a:bodyPr wrap="square"/>
                    <a:lstStyle/>
                    <a:p>
                      <a:pPr algn="ctr"/>
                      <a:r>
                        <a:rPr sz="1100"/>
                        <a:t>보안 검토 승인</a:t>
                      </a:r>
                    </a:p>
                  </a:txBody>
                  <a:tcPr>
                    <a:solidFill>
                      <a:srgbClr val="F0F5FA"/>
                    </a:solidFill>
                  </a:tcPr>
                </a:tc>
                <a:tc>
                  <a:txBody>
                    <a:bodyPr wrap="square"/>
                    <a:lstStyle/>
                    <a:p>
                      <a:pPr algn="ctr"/>
                      <a:r>
                        <a:rPr sz="1100"/>
                        <a:t>AI 도구 사용 시 문서·데이터 보안 기준 수립</a:t>
                      </a:r>
                    </a:p>
                  </a:txBody>
                  <a:tcPr>
                    <a:solidFill>
                      <a:srgbClr val="F0F5FA"/>
                    </a:solidFill>
                  </a:tcPr>
                </a:tc>
              </a:tr>
              <a:tr h="457200">
                <a:tc>
                  <a:txBody>
                    <a:bodyPr wrap="square"/>
                    <a:lstStyle/>
                    <a:p>
                      <a:pPr algn="ctr"/>
                      <a:r>
                        <a:rPr sz="1100"/>
                        <a:t>성과 측정 승인</a:t>
                      </a:r>
                    </a:p>
                  </a:txBody>
                  <a:tcPr>
                    <a:solidFill>
                      <a:srgbClr val="F0F5FA"/>
                    </a:solidFill>
                  </a:tcPr>
                </a:tc>
                <a:tc>
                  <a:txBody>
                    <a:bodyPr wrap="square"/>
                    <a:lstStyle/>
                    <a:p>
                      <a:pPr algn="ctr"/>
                      <a:r>
                        <a:rPr sz="1100"/>
                        <a:t>문서시간, 공정률, 테스트통과율 등 KPI 기반 성과 측정</a:t>
                      </a:r>
                    </a:p>
                  </a:txBody>
                  <a:tcPr>
                    <a:solidFill>
                      <a:srgbClr val="F0F5FA"/>
                    </a:solidFill>
                  </a:tcPr>
                </a:tc>
              </a:tr>
            </a:tbl>
          </a:graphicData>
        </a:graphic>
      </p:graphicFrame>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2163BB"/>
                </a:solidFill>
              </a:defRPr>
            </a:pPr>
            <a:r>
              <a:t>15. 결론</a:t>
            </a:r>
          </a:p>
        </p:txBody>
      </p:sp>
      <p:sp>
        <p:nvSpPr>
          <p:cNvPr id="3" name="TextBox 2"/>
          <p:cNvSpPr txBox="1"/>
          <p:nvPr/>
        </p:nvSpPr>
        <p:spPr>
          <a:xfrm>
            <a:off x="457200" y="1143000"/>
            <a:ext cx="11277295" cy="457200"/>
          </a:xfrm>
          <a:prstGeom prst="rect">
            <a:avLst/>
          </a:prstGeom>
          <a:noFill/>
        </p:spPr>
        <p:txBody>
          <a:bodyPr wrap="square">
            <a:spAutoFit/>
          </a:bodyPr>
          <a:lstStyle/>
          <a:p>
            <a:pPr>
              <a:defRPr sz="1400">
                <a:solidFill>
                  <a:srgbClr val="333333"/>
                </a:solidFill>
              </a:defRPr>
            </a:pPr>
            <a:r>
              <a:t>AI 기반 프로젝트 관리 최적화는 단순히 개발자가 AI로 코드를 생성하는 수준의 도입이 아니다. 공공기관 프로젝트의 핵심 리스크인 문서 품질, 요구사항 추적성, 공정률 정확성, 개발 품질, 감리 대응력을 개선하기 위한 프로젝트 수행 방식의 전환이다.</a:t>
            </a:r>
          </a:p>
        </p:txBody>
      </p:sp>
      <p:sp>
        <p:nvSpPr>
          <p:cNvPr id="4" name="TextBox 3"/>
          <p:cNvSpPr txBox="1"/>
          <p:nvPr/>
        </p:nvSpPr>
        <p:spPr>
          <a:xfrm>
            <a:off x="457200" y="1600200"/>
            <a:ext cx="11277295" cy="457200"/>
          </a:xfrm>
          <a:prstGeom prst="rect">
            <a:avLst/>
          </a:prstGeom>
          <a:noFill/>
        </p:spPr>
        <p:txBody>
          <a:bodyPr wrap="square">
            <a:spAutoFit/>
          </a:bodyPr>
          <a:lstStyle/>
          <a:p>
            <a:pPr>
              <a:defRPr sz="1400">
                <a:solidFill>
                  <a:srgbClr val="333333"/>
                </a:solidFill>
              </a:defRPr>
            </a:pPr>
            <a:r>
              <a:t>Jira, Confluence, Slack, Claude를 중심으로 프로젝트 역할과 워크플로우를 표준화하고, Spec Kit 및 AI CLI 도구를 활용하여 요구사항 분석, 계획 수립, TDD, 작업 분해, 보고서 생성까지 자동화하면 다음 효과를 기대할 수 있다.</a:t>
            </a:r>
          </a:p>
        </p:txBody>
      </p:sp>
      <p:sp>
        <p:nvSpPr>
          <p:cNvPr id="5" name="TextBox 4"/>
          <p:cNvSpPr txBox="1"/>
          <p:nvPr/>
        </p:nvSpPr>
        <p:spPr>
          <a:xfrm>
            <a:off x="457200" y="2057400"/>
            <a:ext cx="11277295" cy="457200"/>
          </a:xfrm>
          <a:prstGeom prst="rect">
            <a:avLst/>
          </a:prstGeom>
          <a:noFill/>
        </p:spPr>
        <p:txBody>
          <a:bodyPr wrap="square">
            <a:spAutoFit/>
          </a:bodyPr>
          <a:lstStyle/>
          <a:p>
            <a:pPr>
              <a:defRPr sz="1400">
                <a:solidFill>
                  <a:srgbClr val="333333"/>
                </a:solidFill>
              </a:defRPr>
            </a:pPr>
            <a:r>
              <a:t>문서 품질 향상</a:t>
            </a:r>
          </a:p>
        </p:txBody>
      </p:sp>
      <p:sp>
        <p:nvSpPr>
          <p:cNvPr id="6" name="TextBox 5"/>
          <p:cNvSpPr txBox="1"/>
          <p:nvPr/>
        </p:nvSpPr>
        <p:spPr>
          <a:xfrm>
            <a:off x="457200" y="2514600"/>
            <a:ext cx="11277295" cy="457200"/>
          </a:xfrm>
          <a:prstGeom prst="rect">
            <a:avLst/>
          </a:prstGeom>
          <a:noFill/>
        </p:spPr>
        <p:txBody>
          <a:bodyPr wrap="square">
            <a:spAutoFit/>
          </a:bodyPr>
          <a:lstStyle/>
          <a:p>
            <a:pPr>
              <a:defRPr sz="1400">
                <a:solidFill>
                  <a:srgbClr val="333333"/>
                </a:solidFill>
              </a:defRPr>
            </a:pPr>
            <a:r>
              <a:t>요구사항 추적성 강화</a:t>
            </a:r>
          </a:p>
        </p:txBody>
      </p:sp>
      <p:sp>
        <p:nvSpPr>
          <p:cNvPr id="7" name="TextBox 6"/>
          <p:cNvSpPr txBox="1"/>
          <p:nvPr/>
        </p:nvSpPr>
        <p:spPr>
          <a:xfrm>
            <a:off x="457200" y="2971800"/>
            <a:ext cx="11277295" cy="457200"/>
          </a:xfrm>
          <a:prstGeom prst="rect">
            <a:avLst/>
          </a:prstGeom>
          <a:noFill/>
        </p:spPr>
        <p:txBody>
          <a:bodyPr wrap="square">
            <a:spAutoFit/>
          </a:bodyPr>
          <a:lstStyle/>
          <a:p>
            <a:pPr>
              <a:defRPr sz="1400">
                <a:solidFill>
                  <a:srgbClr val="333333"/>
                </a:solidFill>
              </a:defRPr>
            </a:pPr>
            <a:r>
              <a:t>공정관리 정확도 향상</a:t>
            </a:r>
          </a:p>
        </p:txBody>
      </p:sp>
      <p:sp>
        <p:nvSpPr>
          <p:cNvPr id="8" name="TextBox 7"/>
          <p:cNvSpPr txBox="1"/>
          <p:nvPr/>
        </p:nvSpPr>
        <p:spPr>
          <a:xfrm>
            <a:off x="457200" y="3429000"/>
            <a:ext cx="11277295" cy="457200"/>
          </a:xfrm>
          <a:prstGeom prst="rect">
            <a:avLst/>
          </a:prstGeom>
          <a:noFill/>
        </p:spPr>
        <p:txBody>
          <a:bodyPr wrap="square">
            <a:spAutoFit/>
          </a:bodyPr>
          <a:lstStyle/>
          <a:p>
            <a:pPr>
              <a:defRPr sz="1400">
                <a:solidFill>
                  <a:srgbClr val="333333"/>
                </a:solidFill>
              </a:defRPr>
            </a:pPr>
            <a:r>
              <a:t>보고 업무 시간 단축</a:t>
            </a:r>
          </a:p>
        </p:txBody>
      </p:sp>
      <p:sp>
        <p:nvSpPr>
          <p:cNvPr id="9" name="TextBox 8"/>
          <p:cNvSpPr txBox="1"/>
          <p:nvPr/>
        </p:nvSpPr>
        <p:spPr>
          <a:xfrm>
            <a:off x="457200" y="3886200"/>
            <a:ext cx="11277295" cy="457200"/>
          </a:xfrm>
          <a:prstGeom prst="rect">
            <a:avLst/>
          </a:prstGeom>
          <a:noFill/>
        </p:spPr>
        <p:txBody>
          <a:bodyPr wrap="square">
            <a:spAutoFit/>
          </a:bodyPr>
          <a:lstStyle/>
          <a:p>
            <a:pPr>
              <a:defRPr sz="1400">
                <a:solidFill>
                  <a:srgbClr val="333333"/>
                </a:solidFill>
              </a:defRPr>
            </a:pPr>
            <a:r>
              <a:t>개발 품질 향상</a:t>
            </a:r>
          </a:p>
        </p:txBody>
      </p:sp>
      <p:sp>
        <p:nvSpPr>
          <p:cNvPr id="10" name="TextBox 9"/>
          <p:cNvSpPr txBox="1"/>
          <p:nvPr/>
        </p:nvSpPr>
        <p:spPr>
          <a:xfrm>
            <a:off x="457200" y="4343400"/>
            <a:ext cx="11277295" cy="457200"/>
          </a:xfrm>
          <a:prstGeom prst="rect">
            <a:avLst/>
          </a:prstGeom>
          <a:noFill/>
        </p:spPr>
        <p:txBody>
          <a:bodyPr wrap="square">
            <a:spAutoFit/>
          </a:bodyPr>
          <a:lstStyle/>
          <a:p>
            <a:pPr>
              <a:defRPr sz="1400">
                <a:solidFill>
                  <a:srgbClr val="333333"/>
                </a:solidFill>
              </a:defRPr>
            </a:pPr>
            <a:r>
              <a:t>감리 및 검수 대응력 강화</a:t>
            </a:r>
          </a:p>
        </p:txBody>
      </p:sp>
      <p:sp>
        <p:nvSpPr>
          <p:cNvPr id="11" name="TextBox 10"/>
          <p:cNvSpPr txBox="1"/>
          <p:nvPr/>
        </p:nvSpPr>
        <p:spPr>
          <a:xfrm>
            <a:off x="457200" y="4800600"/>
            <a:ext cx="11277295" cy="457200"/>
          </a:xfrm>
          <a:prstGeom prst="rect">
            <a:avLst/>
          </a:prstGeom>
          <a:noFill/>
        </p:spPr>
        <p:txBody>
          <a:bodyPr wrap="square">
            <a:spAutoFit/>
          </a:bodyPr>
          <a:lstStyle/>
          <a:p>
            <a:pPr>
              <a:defRPr sz="1400">
                <a:solidFill>
                  <a:srgbClr val="333333"/>
                </a:solidFill>
              </a:defRPr>
            </a:pPr>
            <a:r>
              <a:t>AI 기반 업무혁신 체계 정착</a:t>
            </a:r>
          </a:p>
        </p:txBody>
      </p:sp>
      <p:sp>
        <p:nvSpPr>
          <p:cNvPr id="12" name="TextBox 11"/>
          <p:cNvSpPr txBox="1"/>
          <p:nvPr/>
        </p:nvSpPr>
        <p:spPr>
          <a:xfrm>
            <a:off x="457200" y="5257800"/>
            <a:ext cx="11277295" cy="457200"/>
          </a:xfrm>
          <a:prstGeom prst="rect">
            <a:avLst/>
          </a:prstGeom>
          <a:noFill/>
        </p:spPr>
        <p:txBody>
          <a:bodyPr wrap="square">
            <a:spAutoFit/>
          </a:bodyPr>
          <a:lstStyle/>
          <a:p>
            <a:pPr>
              <a:defRPr sz="1400">
                <a:solidFill>
                  <a:srgbClr val="333333"/>
                </a:solidFill>
              </a:defRPr>
            </a:pPr>
            <a:r>
              <a:t>따라서 본 과제는 단기적으로는 프로젝트 관리 업무의 효율화를 목표로 하며, 중장기적으로는 공공 SI 프로젝트 수행 체계를 AI 기반으로 고도화하는 전략 과제로 추진할 필요가 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